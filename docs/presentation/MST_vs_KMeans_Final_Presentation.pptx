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Respected external examiner, course coordinator, and faculty mentors. Good morning. I am Himanshu Gupta, Allocation Number 19, and alongside my project partner, Parth Yadav, we are presenting our final academic project in Pattern Matching Lab: MST vs K-Means Robustness Analysis.</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In unsupervised pattern recognition, clustering algorithms make strong mathematical assumptions. K-Means assumes spherical Voronoi cells, while MST traces topological connectivity. Real data contains noise, outliers, and non-convex manifolds.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Our allocated objective compares MST and K-Means under noise, outliers, and non-linear distributions. We formulated four core research questions to investigate manifold discovery, noise thresholds, outlier vulnerability, and computational scalability.</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We defined five measurable objectives covering native algorithm implementation, reproducible synthetic generation, 144 paired trials, monotonic benchmarking, and an interactive dashboard. The scope evaluates 2D Euclidean manifolds with sample sizes up to 600.</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K-Means minimizes Within-Cluster Sum of Squares using Lloyd iteration with K-Means++ initialization. Centroid averaging dampens Gaussian noise by 1/N_k. However, because boundaries are linear Voronoi hyperplanes, K-Means is structurally incapable of non-convex separation.</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MST clustering constructs a Euclidean Minimum Spanning Tree via Prim's algorithm, then removes the K-1 longest edges. Single-linkage connectivity allows arbitrary manifold discovery, but creates extreme vulnerability to outlier bridging and pendant edge hijacking.</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The entire research application runs natively inside the web browser with zero external dependencies. It includes an internal LCG PRNG for reproducibility, pure algorithmic modules, an ARI evaluator, interactive step-by-step visualizers, and passes 64 unit tests.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We evaluated both algorithms on three canonical 2D dataset families with 300 inliers each: Gaussian Blobs (convex), Two Moons (interlocking non-linear manifolds), and Concentric Circles (nested rings with identical centroids at the origin).</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We strictly separated our tests into independent noise sweeps and outlier sweeps across seeds 11, 22, and 33, producing 144 paired trials. We evaluate ARI strictly across the 300 ground-truth inliers to avoid artificial score inflation from uniform outliers.</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On clean datasets, MST achieves perfect ARI of 1.0000 on all three geometries. K-Means matches MST on Blobs (1.0000), but fails on Two Moons (0.1941) and Concentric Circles (-0.0019) due to linear Voronoi boundaries and identical cluster centroids.</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Under Gaussian coordinate noise, both algorithms remain solid at 1.0000 on Blobs. But on Moons and Circles, once noise reaches sigma = 0.20, coordinate displacement bridges the gap, causing MST ARI to collapse to 0.0000 and 0.0935.</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This is our primary empirical discovery: on Two Moons, just 5% outliers causes MST ARI to plunge from 1.0000 to 0.0000. Outliers form long pendant edges that consume the K-1 cuts, isolating individual outlier points and leaving all 300 inliers lumped together in one component.</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Micro-benchmarks from N = 100 to 600 confirm quadratic O(N^2) growth for dense Prim MST (rising to 1.70 ms), while K-Means remains sub-millisecond (0.14 ms). At N = 600, K-Means is 12.14x faster by ratio of means, and 17.00x faster by ratio of medians.</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Parth Yadav</a:t>
            </a:r>
            <a:endParaRPr lang="en-US"/>
          </a:p>
          <a:p>
            <a:endParaRPr lang="en-US"/>
          </a:p>
          <a:p>
            <a:r>
              <a:rPr lang="en-US"/>
              <a:t>To conclude: K-Means is ideal for noisy spherical clusters. MST is ideal for clean curved manifolds. When both non-convexity and outliers exist, neither standard method succeeds. We acknowledge limitations of 3 seeds, 2D data, and browser timer coarsening.</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SPEAKER: Himanshu Gupta</a:t>
            </a:r>
            <a:endParaRPr lang="en-US"/>
          </a:p>
          <a:p>
            <a:endParaRPr lang="en-US"/>
          </a:p>
          <a:p>
            <a:r>
              <a:rPr lang="en-US"/>
              <a:t>Our research builds on foundational literature from MacQueen, Lloyd, Arthur, Prim, Zahn, and Hubert &amp; Arabie. We thank our mentors and examiners, and we welcome your questions and look forward to demonstrating the live system.</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762000" y="1270000"/>
            <a:ext cx="10668000" cy="1168400"/>
          </a:xfrm>
          <a:prstGeom prst="rect">
            <a:avLst/>
          </a:prstGeom>
          <a:noFill/>
        </p:spPr>
        <p:txBody>
          <a:bodyPr wrap="square" rtlCol="0" anchor="t">
            <a:spAutoFit/>
          </a:bodyPr>
          <a:p>
            <a:r>
              <a:rPr lang="en-US" sz="1200" b="1">
                <a:solidFill>
                  <a:srgbClr val="06B6D4"/>
                </a:solidFill>
              </a:rPr>
              <a:t>Pattern Matching Lab (BCS-DS-777) &amp;bull; Final Defense Deck</a:t>
            </a:r>
            <a:endParaRPr lang="en-US" sz="1200" b="1">
              <a:solidFill>
                <a:srgbClr val="06B6D4"/>
              </a:solidFill>
            </a:endParaRPr>
          </a:p>
          <a:p>
            <a:r>
              <a:rPr lang="en-US" sz="3200" b="1">
                <a:solidFill>
                  <a:srgbClr val="FFFFFF"/>
                </a:solidFill>
              </a:rPr>
              <a:t>MST vs K-Means Robustness Analysis</a:t>
            </a:r>
            <a:endParaRPr lang="en-US" sz="3200" b="1">
              <a:solidFill>
                <a:srgbClr val="FFFFFF"/>
              </a:solidFill>
            </a:endParaRPr>
          </a:p>
          <a:p>
            <a:r>
              <a:rPr lang="en-US" sz="1300">
                <a:solidFill>
                  <a:srgbClr val="8094A3"/>
                </a:solidFill>
              </a:rPr>
              <a:t>A Comparative Quantitative Investigation of Graph-Theoretic Spanning Forest Clustering and Centroid Voronoi Partitioning Under Controlled Topological and Stochastic Perturbations</a:t>
            </a:r>
            <a:endParaRPr lang="en-US" sz="1300">
              <a:solidFill>
                <a:srgbClr val="8094A3"/>
              </a:solidFill>
            </a:endParaRPr>
          </a:p>
        </p:txBody>
      </p:sp>
      <p:sp>
        <p:nvSpPr>
          <p:cNvPr id="3" name="Text Box 2"/>
          <p:cNvSpPr txBox="1"/>
          <p:nvPr/>
        </p:nvSpPr>
        <p:spPr>
          <a:xfrm>
            <a:off x="762000" y="4826000"/>
            <a:ext cx="10668000" cy="598805"/>
          </a:xfrm>
          <a:prstGeom prst="rect">
            <a:avLst/>
          </a:prstGeom>
          <a:noFill/>
        </p:spPr>
        <p:txBody>
          <a:bodyPr wrap="square" rtlCol="0" anchor="t">
            <a:spAutoFit/>
          </a:bodyPr>
          <a:p>
            <a:r>
              <a:rPr lang="en-US" sz="1100">
                <a:solidFill>
                  <a:srgbClr val="CCCCCC"/>
                </a:solidFill>
              </a:rPr>
              <a:t>Student Investigators: Himanshu Gupta (Alloc. No. 19) &amp; Parth Yadav</a:t>
            </a:r>
            <a:endParaRPr lang="en-US" sz="1100">
              <a:solidFill>
                <a:srgbClr val="CCCCCC"/>
              </a:solidFill>
            </a:endParaRPr>
          </a:p>
          <a:p>
            <a:r>
              <a:rPr lang="en-US" sz="1100">
                <a:solidFill>
                  <a:srgbClr val="CCCCCC"/>
                </a:solidFill>
              </a:rPr>
              <a:t>Institution: Manav Rachna International Institute of Research and Studies (MRIIRS), Faridabad</a:t>
            </a:r>
            <a:endParaRPr lang="en-US" sz="1100">
              <a:solidFill>
                <a:srgbClr val="CCCCCC"/>
              </a:solidFill>
            </a:endParaRPr>
          </a:p>
          <a:p>
            <a:r>
              <a:rPr lang="en-US" sz="1100">
                <a:solidFill>
                  <a:srgbClr val="CCCCCC"/>
                </a:solidFill>
              </a:rPr>
              <a:t>Repository: github.com/Himanshu102931/MST-KMeans-Robustness-Analysis (Checkpoint 1baf1c9)</a:t>
            </a:r>
            <a:endParaRPr lang="en-US" sz="1100">
              <a:solidFill>
                <a:srgbClr val="CCCC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MOTIVATION &amp; CONTEXT</a:t>
            </a:r>
            <a:endParaRPr lang="en-US" sz="1000" b="1">
              <a:solidFill>
                <a:srgbClr val="3B82F6"/>
              </a:solidFill>
            </a:endParaRPr>
          </a:p>
          <a:p>
            <a:r>
              <a:rPr lang="en-US" sz="2200" b="1">
                <a:solidFill>
                  <a:srgbClr val="FFFFFF"/>
                </a:solidFill>
              </a:rPr>
              <a:t>The Challenge of Unsupervised Clustering</a:t>
            </a:r>
            <a:endParaRPr lang="en-US" sz="2200" b="1">
              <a:solidFill>
                <a:srgbClr val="FFFFFF"/>
              </a:solidFill>
            </a:endParaRPr>
          </a:p>
        </p:txBody>
      </p:sp>
      <p:sp>
        <p:nvSpPr>
          <p:cNvPr id="3" name="Text Box 2"/>
          <p:cNvSpPr txBox="1"/>
          <p:nvPr/>
        </p:nvSpPr>
        <p:spPr>
          <a:xfrm>
            <a:off x="508000" y="1270000"/>
            <a:ext cx="5334000" cy="1938020"/>
          </a:xfrm>
          <a:prstGeom prst="rect">
            <a:avLst/>
          </a:prstGeom>
          <a:noFill/>
        </p:spPr>
        <p:txBody>
          <a:bodyPr wrap="square" rtlCol="0" anchor="t">
            <a:spAutoFit/>
          </a:bodyPr>
          <a:p>
            <a:r>
              <a:rPr lang="en-US" sz="1200" b="1">
                <a:solidFill>
                  <a:srgbClr val="FFFFFF"/>
                </a:solidFill>
              </a:rPr>
              <a:t>The Algorithmic Dilemma</a:t>
            </a:r>
            <a:endParaRPr lang="en-US" sz="1200" b="1">
              <a:solidFill>
                <a:srgbClr val="FFFFFF"/>
              </a:solidFill>
            </a:endParaRPr>
          </a:p>
          <a:p>
            <a:endParaRPr lang="en-US" sz="1200">
              <a:solidFill>
                <a:srgbClr val="FFFFFF"/>
              </a:solidFill>
            </a:endParaRPr>
          </a:p>
          <a:p>
            <a:r>
              <a:rPr lang="en-US" sz="1200">
                <a:solidFill>
                  <a:srgbClr val="FFFFFF"/>
                </a:solidFill>
              </a:rPr>
              <a:t>&amp;bull; Inductive Bias: Every clustering algorithm imposes geometric assumptions on data.</a:t>
            </a:r>
            <a:endParaRPr lang="en-US" sz="1200">
              <a:solidFill>
                <a:srgbClr val="FFFFFF"/>
              </a:solidFill>
            </a:endParaRPr>
          </a:p>
          <a:p>
            <a:r>
              <a:rPr lang="en-US" sz="1200">
                <a:solidFill>
                  <a:srgbClr val="FFFFFF"/>
                </a:solidFill>
              </a:rPr>
              <a:t>&amp;bull; Centroid Models (K-Means): Assume compact, spherical, linearly separable clusters.</a:t>
            </a:r>
            <a:endParaRPr lang="en-US" sz="1200">
              <a:solidFill>
                <a:srgbClr val="FFFFFF"/>
              </a:solidFill>
            </a:endParaRPr>
          </a:p>
          <a:p>
            <a:r>
              <a:rPr lang="en-US" sz="1200">
                <a:solidFill>
                  <a:srgbClr val="FFFFFF"/>
                </a:solidFill>
              </a:rPr>
              <a:t>&amp;bull; Graph Models (MST): Assume continuous topological manifolds discovered via local proximity.</a:t>
            </a:r>
            <a:endParaRPr lang="en-US" sz="1200">
              <a:solidFill>
                <a:srgbClr val="FFFFFF"/>
              </a:solidFill>
            </a:endParaRPr>
          </a:p>
          <a:p>
            <a:r>
              <a:rPr lang="en-US" sz="1200">
                <a:solidFill>
                  <a:srgbClr val="FFFFFF"/>
                </a:solidFill>
              </a:rPr>
              <a:t>&amp;bull; The Conflict: Centroid models fail structurally when clusters curve or interlock.</a:t>
            </a:r>
            <a:endParaRPr lang="en-US" sz="1200">
              <a:solidFill>
                <a:srgbClr val="FFFFFF"/>
              </a:solidFill>
            </a:endParaRPr>
          </a:p>
        </p:txBody>
      </p:sp>
      <p:sp>
        <p:nvSpPr>
          <p:cNvPr id="4" name="Text Box 3"/>
          <p:cNvSpPr txBox="1"/>
          <p:nvPr/>
        </p:nvSpPr>
        <p:spPr>
          <a:xfrm>
            <a:off x="6096000" y="1270000"/>
            <a:ext cx="5588000" cy="1753235"/>
          </a:xfrm>
          <a:prstGeom prst="rect">
            <a:avLst/>
          </a:prstGeom>
          <a:noFill/>
        </p:spPr>
        <p:txBody>
          <a:bodyPr wrap="square" rtlCol="0" anchor="t">
            <a:spAutoFit/>
          </a:bodyPr>
          <a:p>
            <a:r>
              <a:rPr lang="en-US" sz="1200" b="1">
                <a:solidFill>
                  <a:srgbClr val="FFFFFF"/>
                </a:solidFill>
              </a:rPr>
              <a:t>Real-World Robustness Challenges</a:t>
            </a:r>
            <a:endParaRPr lang="en-US" sz="1200" b="1">
              <a:solidFill>
                <a:srgbClr val="FFFFFF"/>
              </a:solidFill>
            </a:endParaRPr>
          </a:p>
          <a:p>
            <a:endParaRPr lang="en-US" sz="1200">
              <a:solidFill>
                <a:srgbClr val="FFFFFF"/>
              </a:solidFill>
            </a:endParaRPr>
          </a:p>
          <a:p>
            <a:r>
              <a:rPr lang="en-US" sz="1200">
                <a:solidFill>
                  <a:srgbClr val="FFFFFF"/>
                </a:solidFill>
              </a:rPr>
              <a:t>&amp;bull; Physical Sensors: Produce isotropic Gaussian coordinate noise (&amp;sigma;).</a:t>
            </a:r>
            <a:endParaRPr lang="en-US" sz="1200">
              <a:solidFill>
                <a:srgbClr val="FFFFFF"/>
              </a:solidFill>
            </a:endParaRPr>
          </a:p>
          <a:p>
            <a:r>
              <a:rPr lang="en-US" sz="1200">
                <a:solidFill>
                  <a:srgbClr val="FFFFFF"/>
                </a:solidFill>
              </a:rPr>
              <a:t>&amp;bull; Ambient Outliers: Anomalies and background noise produce spurious data points (&amp;eta;).</a:t>
            </a:r>
            <a:endParaRPr lang="en-US" sz="1200">
              <a:solidFill>
                <a:srgbClr val="FFFFFF"/>
              </a:solidFill>
            </a:endParaRPr>
          </a:p>
          <a:p>
            <a:r>
              <a:rPr lang="en-US" sz="1200">
                <a:solidFill>
                  <a:srgbClr val="FFFFFF"/>
                </a:solidFill>
              </a:rPr>
              <a:t>&amp;bull; Non-Linear Structures: Real biological, GIS, and sensor manifolds curve in feature space.</a:t>
            </a:r>
            <a:endParaRPr lang="en-US" sz="1200">
              <a:solidFill>
                <a:srgbClr val="FFFFFF"/>
              </a:solidFill>
            </a:endParaRPr>
          </a:p>
          <a:p>
            <a:r>
              <a:rPr lang="en-US" sz="1200">
                <a:solidFill>
                  <a:srgbClr val="FFFFFF"/>
                </a:solidFill>
              </a:rPr>
              <a:t>&amp;bull; Research Objective: Quantitatively measure robustness degradation under isolated stress.</a:t>
            </a:r>
            <a:endParaRPr lang="en-US" sz="12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PROBLEM DEFINITION</a:t>
            </a:r>
            <a:endParaRPr lang="en-US" sz="1000" b="1">
              <a:solidFill>
                <a:srgbClr val="3B82F6"/>
              </a:solidFill>
            </a:endParaRPr>
          </a:p>
          <a:p>
            <a:r>
              <a:rPr lang="en-US" sz="2200" b="1">
                <a:solidFill>
                  <a:srgbClr val="FFFFFF"/>
                </a:solidFill>
              </a:rPr>
              <a:t>Research Problem &amp; Core Questions</a:t>
            </a:r>
            <a:endParaRPr lang="en-US" sz="2200" b="1">
              <a:solidFill>
                <a:srgbClr val="FFFFFF"/>
              </a:solidFill>
            </a:endParaRPr>
          </a:p>
        </p:txBody>
      </p:sp>
      <p:sp>
        <p:nvSpPr>
          <p:cNvPr id="3" name="Text Box 2"/>
          <p:cNvSpPr txBox="1"/>
          <p:nvPr/>
        </p:nvSpPr>
        <p:spPr>
          <a:xfrm>
            <a:off x="508000" y="1270000"/>
            <a:ext cx="5588000" cy="1753235"/>
          </a:xfrm>
          <a:prstGeom prst="rect">
            <a:avLst/>
          </a:prstGeom>
          <a:noFill/>
        </p:spPr>
        <p:txBody>
          <a:bodyPr wrap="square" rtlCol="0" anchor="t">
            <a:spAutoFit/>
          </a:bodyPr>
          <a:p>
            <a:r>
              <a:rPr lang="en-US" sz="1200" b="1">
                <a:solidFill>
                  <a:srgbClr val="FFFFFF"/>
                </a:solidFill>
              </a:rPr>
              <a:t>Official Allocated Objective (Allocation 19)</a:t>
            </a:r>
            <a:endParaRPr lang="en-US" sz="1200" b="1">
              <a:solidFill>
                <a:srgbClr val="FFFFFF"/>
              </a:solidFill>
            </a:endParaRPr>
          </a:p>
          <a:p>
            <a:endParaRPr lang="en-US" sz="1200">
              <a:solidFill>
                <a:srgbClr val="FFFFFF"/>
              </a:solidFill>
            </a:endParaRPr>
          </a:p>
          <a:p>
            <a:r>
              <a:rPr lang="en-US" sz="1200">
                <a:solidFill>
                  <a:srgbClr val="FFFFFF"/>
                </a:solidFill>
              </a:rPr>
              <a:t>'Compare MST-based clustering and K-Means under noise, outliers, and non-linear data distributions using quantitative robustness measures.'</a:t>
            </a:r>
            <a:endParaRPr lang="en-US" sz="1200">
              <a:solidFill>
                <a:srgbClr val="FFFFFF"/>
              </a:solidFill>
            </a:endParaRPr>
          </a:p>
          <a:p>
            <a:endParaRPr lang="en-US" sz="1200">
              <a:solidFill>
                <a:srgbClr val="FFFFFF"/>
              </a:solidFill>
            </a:endParaRPr>
          </a:p>
          <a:p>
            <a:r>
              <a:rPr lang="en-US" sz="1200">
                <a:solidFill>
                  <a:srgbClr val="FFFFFF"/>
                </a:solidFill>
              </a:rPr>
              <a:t>Methodological Gaps Addressed:</a:t>
            </a:r>
            <a:endParaRPr lang="en-US" sz="1200">
              <a:solidFill>
                <a:srgbClr val="FFFFFF"/>
              </a:solidFill>
            </a:endParaRPr>
          </a:p>
          <a:p>
            <a:r>
              <a:rPr lang="en-US" sz="1200">
                <a:solidFill>
                  <a:srgbClr val="FFFFFF"/>
                </a:solidFill>
              </a:rPr>
              <a:t>&amp;bull; Confounding noise and outliers together in unisolated sweeps.</a:t>
            </a:r>
            <a:endParaRPr lang="en-US" sz="1200">
              <a:solidFill>
                <a:srgbClr val="FFFFFF"/>
              </a:solidFill>
            </a:endParaRPr>
          </a:p>
          <a:p>
            <a:r>
              <a:rPr lang="en-US" sz="1200">
                <a:solidFill>
                  <a:srgbClr val="FFFFFF"/>
                </a:solidFill>
              </a:rPr>
              <a:t>&amp;bull; Artificial outlier inclusion distorting partition quality metrics.</a:t>
            </a:r>
            <a:endParaRPr lang="en-US" sz="1200">
              <a:solidFill>
                <a:srgbClr val="FFFFFF"/>
              </a:solidFill>
            </a:endParaRPr>
          </a:p>
          <a:p>
            <a:r>
              <a:rPr lang="en-US" sz="1200">
                <a:solidFill>
                  <a:srgbClr val="FFFFFF"/>
                </a:solidFill>
              </a:rPr>
              <a:t>&amp;bull; Black-box Python libraries obscuring algorithmic mechanics.</a:t>
            </a:r>
            <a:endParaRPr lang="en-US" sz="1200">
              <a:solidFill>
                <a:srgbClr val="FFFFFF"/>
              </a:solidFill>
            </a:endParaRPr>
          </a:p>
        </p:txBody>
      </p:sp>
      <p:sp>
        <p:nvSpPr>
          <p:cNvPr id="4" name="Text Box 3"/>
          <p:cNvSpPr txBox="1"/>
          <p:nvPr/>
        </p:nvSpPr>
        <p:spPr>
          <a:xfrm>
            <a:off x="6350000" y="1270000"/>
            <a:ext cx="5334000" cy="1938020"/>
          </a:xfrm>
          <a:prstGeom prst="rect">
            <a:avLst/>
          </a:prstGeom>
          <a:noFill/>
        </p:spPr>
        <p:txBody>
          <a:bodyPr wrap="square" rtlCol="0" anchor="t">
            <a:spAutoFit/>
          </a:bodyPr>
          <a:p>
            <a:r>
              <a:rPr lang="en-US" sz="1200" b="1">
                <a:solidFill>
                  <a:srgbClr val="FFFFFF"/>
                </a:solidFill>
              </a:rPr>
              <a:t>Core Research Questions</a:t>
            </a:r>
            <a:endParaRPr lang="en-US" sz="1200" b="1">
              <a:solidFill>
                <a:srgbClr val="FFFFFF"/>
              </a:solidFill>
            </a:endParaRPr>
          </a:p>
          <a:p>
            <a:endParaRPr lang="en-US" sz="1200">
              <a:solidFill>
                <a:srgbClr val="FFFFFF"/>
              </a:solidFill>
            </a:endParaRPr>
          </a:p>
          <a:p>
            <a:r>
              <a:rPr lang="en-US" sz="1200">
                <a:solidFill>
                  <a:srgbClr val="FFFFFF"/>
                </a:solidFill>
              </a:rPr>
              <a:t>&amp;bull; RQ1 (Manifolds): Can single-linkage MST recover non-convex shapes where K-Means fails?</a:t>
            </a:r>
            <a:endParaRPr lang="en-US" sz="1200">
              <a:solidFill>
                <a:srgbClr val="FFFFFF"/>
              </a:solidFill>
            </a:endParaRPr>
          </a:p>
          <a:p>
            <a:r>
              <a:rPr lang="en-US" sz="1200">
                <a:solidFill>
                  <a:srgbClr val="FFFFFF"/>
                </a:solidFill>
              </a:rPr>
              <a:t>&amp;bull; RQ2 (Noise): At what exact threshold does Gaussian noise bridge inter-cluster margins?</a:t>
            </a:r>
            <a:endParaRPr lang="en-US" sz="1200">
              <a:solidFill>
                <a:srgbClr val="FFFFFF"/>
              </a:solidFill>
            </a:endParaRPr>
          </a:p>
          <a:p>
            <a:r>
              <a:rPr lang="en-US" sz="1200">
                <a:solidFill>
                  <a:srgbClr val="FFFFFF"/>
                </a:solidFill>
              </a:rPr>
              <a:t>&amp;bull; RQ3 (Outliers): Does single-linkage MST suffer from catastrophic cut misallocation?</a:t>
            </a:r>
            <a:endParaRPr lang="en-US" sz="1200">
              <a:solidFill>
                <a:srgbClr val="FFFFFF"/>
              </a:solidFill>
            </a:endParaRPr>
          </a:p>
          <a:p>
            <a:r>
              <a:rPr lang="en-US" sz="1200">
                <a:solidFill>
                  <a:srgbClr val="FFFFFF"/>
                </a:solidFill>
              </a:rPr>
              <a:t>&amp;bull; RQ4 (Scaling): How do practical execution runtimes scale for dense Prim vs. Lloyd?</a:t>
            </a:r>
            <a:endParaRPr lang="en-US" sz="12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PROJECT FOUNDATION</a:t>
            </a:r>
            <a:endParaRPr lang="en-US" sz="1000" b="1">
              <a:solidFill>
                <a:srgbClr val="3B82F6"/>
              </a:solidFill>
            </a:endParaRPr>
          </a:p>
          <a:p>
            <a:r>
              <a:rPr lang="en-US" sz="2200" b="1">
                <a:solidFill>
                  <a:srgbClr val="FFFFFF"/>
                </a:solidFill>
              </a:rPr>
              <a:t>Measurable Objectives &amp; Experimental Scope</a:t>
            </a:r>
            <a:endParaRPr lang="en-US" sz="2200" b="1">
              <a:solidFill>
                <a:srgbClr val="FFFFFF"/>
              </a:solidFill>
            </a:endParaRPr>
          </a:p>
        </p:txBody>
      </p:sp>
      <p:sp>
        <p:nvSpPr>
          <p:cNvPr id="3" name="Text Box 2"/>
          <p:cNvSpPr txBox="1"/>
          <p:nvPr/>
        </p:nvSpPr>
        <p:spPr>
          <a:xfrm>
            <a:off x="508000" y="1270000"/>
            <a:ext cx="5842000" cy="1506855"/>
          </a:xfrm>
          <a:prstGeom prst="rect">
            <a:avLst/>
          </a:prstGeom>
          <a:noFill/>
        </p:spPr>
        <p:txBody>
          <a:bodyPr wrap="square" rtlCol="0" anchor="t">
            <a:spAutoFit/>
          </a:bodyPr>
          <a:p>
            <a:r>
              <a:rPr lang="en-US" sz="1150" b="1">
                <a:solidFill>
                  <a:srgbClr val="FFFFFF"/>
                </a:solidFill>
              </a:rPr>
              <a:t>5 Measurable Learning Objectives</a:t>
            </a:r>
            <a:endParaRPr lang="en-US" sz="1150" b="1">
              <a:solidFill>
                <a:srgbClr val="FFFFFF"/>
              </a:solidFill>
            </a:endParaRPr>
          </a:p>
          <a:p>
            <a:endParaRPr lang="en-US" sz="1150">
              <a:solidFill>
                <a:srgbClr val="FFFFFF"/>
              </a:solidFill>
            </a:endParaRPr>
          </a:p>
          <a:p>
            <a:r>
              <a:rPr lang="en-US" sz="1150">
                <a:solidFill>
                  <a:srgbClr val="FFFFFF"/>
                </a:solidFill>
              </a:rPr>
              <a:t>&amp;bull; LO-1: Native JS K-Means++ and dense Prim's MST verified by 64 unit tests.</a:t>
            </a:r>
            <a:endParaRPr lang="en-US" sz="1150">
              <a:solidFill>
                <a:srgbClr val="FFFFFF"/>
              </a:solidFill>
            </a:endParaRPr>
          </a:p>
          <a:p>
            <a:r>
              <a:rPr lang="en-US" sz="1150">
                <a:solidFill>
                  <a:srgbClr val="FFFFFF"/>
                </a:solidFill>
              </a:rPr>
              <a:t>&amp;bull; LO-2: Deterministic synthetic data engine with reproducible seeds (11, 22, 33).</a:t>
            </a:r>
            <a:endParaRPr lang="en-US" sz="1150">
              <a:solidFill>
                <a:srgbClr val="FFFFFF"/>
              </a:solidFill>
            </a:endParaRPr>
          </a:p>
          <a:p>
            <a:r>
              <a:rPr lang="en-US" sz="1150">
                <a:solidFill>
                  <a:srgbClr val="FFFFFF"/>
                </a:solidFill>
              </a:rPr>
              <a:t>&amp;bull; LO-3: 144 paired trials measuring Inlier Adjusted Rand Index (ARI) &amp; degradation.</a:t>
            </a:r>
            <a:endParaRPr lang="en-US" sz="1150">
              <a:solidFill>
                <a:srgbClr val="FFFFFF"/>
              </a:solidFill>
            </a:endParaRPr>
          </a:p>
          <a:p>
            <a:r>
              <a:rPr lang="en-US" sz="1150">
                <a:solidFill>
                  <a:srgbClr val="FFFFFF"/>
                </a:solidFill>
              </a:rPr>
              <a:t>&amp;bull; LO-4: High-resolution monotonic runtime profiling across N in [100, 600].</a:t>
            </a:r>
            <a:endParaRPr lang="en-US" sz="1150">
              <a:solidFill>
                <a:srgbClr val="FFFFFF"/>
              </a:solidFill>
            </a:endParaRPr>
          </a:p>
          <a:p>
            <a:r>
              <a:rPr lang="en-US" sz="1150">
                <a:solidFill>
                  <a:srgbClr val="FFFFFF"/>
                </a:solidFill>
              </a:rPr>
              <a:t>&amp;bull; LO-5: Open-source interactive dashboard with live sweeps &amp; CSV exports.</a:t>
            </a:r>
            <a:endParaRPr lang="en-US" sz="1150">
              <a:solidFill>
                <a:srgbClr val="FFFFFF"/>
              </a:solidFill>
            </a:endParaRPr>
          </a:p>
        </p:txBody>
      </p:sp>
      <p:sp>
        <p:nvSpPr>
          <p:cNvPr id="4" name="Text Box 3"/>
          <p:cNvSpPr txBox="1"/>
          <p:nvPr/>
        </p:nvSpPr>
        <p:spPr>
          <a:xfrm>
            <a:off x="6604000" y="1270000"/>
            <a:ext cx="5080000" cy="1861185"/>
          </a:xfrm>
          <a:prstGeom prst="rect">
            <a:avLst/>
          </a:prstGeom>
          <a:noFill/>
        </p:spPr>
        <p:txBody>
          <a:bodyPr wrap="square" rtlCol="0" anchor="t">
            <a:spAutoFit/>
          </a:bodyPr>
          <a:p>
            <a:r>
              <a:rPr lang="en-US" sz="1150" b="1">
                <a:solidFill>
                  <a:srgbClr val="FFFFFF"/>
                </a:solidFill>
              </a:rPr>
              <a:t>Experimental Scope &amp; Boundaries</a:t>
            </a:r>
            <a:endParaRPr lang="en-US" sz="1150" b="1">
              <a:solidFill>
                <a:srgbClr val="FFFFFF"/>
              </a:solidFill>
            </a:endParaRPr>
          </a:p>
          <a:p>
            <a:endParaRPr lang="en-US" sz="1150">
              <a:solidFill>
                <a:srgbClr val="FFFFFF"/>
              </a:solidFill>
            </a:endParaRPr>
          </a:p>
          <a:p>
            <a:r>
              <a:rPr lang="en-US" sz="1150">
                <a:solidFill>
                  <a:srgbClr val="FFFFFF"/>
                </a:solidFill>
              </a:rPr>
              <a:t>&amp;bull; Feature Space: 2D Euclidean plane (D = 2) for direct visual auditability.</a:t>
            </a:r>
            <a:endParaRPr lang="en-US" sz="1150">
              <a:solidFill>
                <a:srgbClr val="FFFFFF"/>
              </a:solidFill>
            </a:endParaRPr>
          </a:p>
          <a:p>
            <a:r>
              <a:rPr lang="en-US" sz="1150">
                <a:solidFill>
                  <a:srgbClr val="FFFFFF"/>
                </a:solidFill>
              </a:rPr>
              <a:t>&amp;bull; Sample Size: N = 300 inliers for robustness; N in [100, 600] for benchmarks.</a:t>
            </a:r>
            <a:endParaRPr lang="en-US" sz="1150">
              <a:solidFill>
                <a:srgbClr val="FFFFFF"/>
              </a:solidFill>
            </a:endParaRPr>
          </a:p>
          <a:p>
            <a:r>
              <a:rPr lang="en-US" sz="1150">
                <a:solidFill>
                  <a:srgbClr val="FFFFFF"/>
                </a:solidFill>
              </a:rPr>
              <a:t>&amp;bull; Architecture: 100% browser-native client-side JavaScript. Zero backend servers.</a:t>
            </a:r>
            <a:endParaRPr lang="en-US" sz="1150">
              <a:solidFill>
                <a:srgbClr val="FFFFFF"/>
              </a:solidFill>
            </a:endParaRPr>
          </a:p>
          <a:p>
            <a:r>
              <a:rPr lang="en-US" sz="1150">
                <a:solidFill>
                  <a:srgbClr val="FFFFFF"/>
                </a:solidFill>
              </a:rPr>
              <a:t>&amp;bull; Evaluation Metric: Chance-adjusted Inlier ARI (Hubert &amp; Arabie, 1985).</a:t>
            </a:r>
            <a:endParaRPr lang="en-US" sz="115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CENTROID PARADIGM</a:t>
            </a:r>
            <a:endParaRPr lang="en-US" sz="1000" b="1">
              <a:solidFill>
                <a:srgbClr val="3B82F6"/>
              </a:solidFill>
            </a:endParaRPr>
          </a:p>
          <a:p>
            <a:r>
              <a:rPr lang="en-US" sz="2200" b="1">
                <a:solidFill>
                  <a:srgbClr val="FFFFFF"/>
                </a:solidFill>
              </a:rPr>
              <a:t>Lloyd's K-Means &amp; K-Means++ Seeding</a:t>
            </a:r>
            <a:endParaRPr lang="en-US" sz="2200" b="1">
              <a:solidFill>
                <a:srgbClr val="FFFFFF"/>
              </a:solidFill>
            </a:endParaRPr>
          </a:p>
        </p:txBody>
      </p:sp>
      <p:sp>
        <p:nvSpPr>
          <p:cNvPr id="3" name="Text Box 2"/>
          <p:cNvSpPr txBox="1"/>
          <p:nvPr/>
        </p:nvSpPr>
        <p:spPr>
          <a:xfrm>
            <a:off x="508000" y="1270000"/>
            <a:ext cx="5588000" cy="1861185"/>
          </a:xfrm>
          <a:prstGeom prst="rect">
            <a:avLst/>
          </a:prstGeom>
          <a:noFill/>
        </p:spPr>
        <p:txBody>
          <a:bodyPr wrap="square" rtlCol="0" anchor="t">
            <a:spAutoFit/>
          </a:bodyPr>
          <a:p>
            <a:r>
              <a:rPr lang="en-US" sz="1150" b="1">
                <a:solidFill>
                  <a:srgbClr val="FFFFFF"/>
                </a:solidFill>
              </a:rPr>
              <a:t>Mathematical Formulation</a:t>
            </a:r>
            <a:endParaRPr lang="en-US" sz="1150" b="1">
              <a:solidFill>
                <a:srgbClr val="FFFFFF"/>
              </a:solidFill>
            </a:endParaRPr>
          </a:p>
          <a:p>
            <a:endParaRPr lang="en-US" sz="1150">
              <a:solidFill>
                <a:srgbClr val="FFFFFF"/>
              </a:solidFill>
            </a:endParaRPr>
          </a:p>
          <a:p>
            <a:r>
              <a:rPr lang="en-US" sz="1150">
                <a:solidFill>
                  <a:srgbClr val="FFFFFF"/>
                </a:solidFill>
              </a:rPr>
              <a:t>Objective: Minimize Inertia (WCSS):</a:t>
            </a:r>
            <a:endParaRPr lang="en-US" sz="1150">
              <a:solidFill>
                <a:srgbClr val="FFFFFF"/>
              </a:solidFill>
            </a:endParaRPr>
          </a:p>
          <a:p>
            <a:r>
              <a:rPr lang="en-US" sz="1150">
                <a:solidFill>
                  <a:srgbClr val="FFFFFF"/>
                </a:solidFill>
              </a:rPr>
              <a:t>J = &amp;Sigma; &amp;Sigma; || x_i - &amp;mu;_k ||^2</a:t>
            </a:r>
            <a:endParaRPr lang="en-US" sz="1150">
              <a:solidFill>
                <a:srgbClr val="FFFFFF"/>
              </a:solidFill>
            </a:endParaRPr>
          </a:p>
          <a:p>
            <a:endParaRPr lang="en-US" sz="1150">
              <a:solidFill>
                <a:srgbClr val="FFFFFF"/>
              </a:solidFill>
            </a:endParaRPr>
          </a:p>
          <a:p>
            <a:r>
              <a:rPr lang="en-US" sz="1150">
                <a:solidFill>
                  <a:srgbClr val="FFFFFF"/>
                </a:solidFill>
              </a:rPr>
              <a:t>&amp;bull; K-Means++ Seeding: Sample centroids with P(x) proportional to D(x)^2 (O(log K) bound).</a:t>
            </a:r>
            <a:endParaRPr lang="en-US" sz="1150">
              <a:solidFill>
                <a:srgbClr val="FFFFFF"/>
              </a:solidFill>
            </a:endParaRPr>
          </a:p>
          <a:p>
            <a:r>
              <a:rPr lang="en-US" sz="1150">
                <a:solidFill>
                  <a:srgbClr val="FFFFFF"/>
                </a:solidFill>
              </a:rPr>
              <a:t>&amp;bull; Assignment Step: Assign x_i to nearest centroid (Voronoi cell).</a:t>
            </a:r>
            <a:endParaRPr lang="en-US" sz="1150">
              <a:solidFill>
                <a:srgbClr val="FFFFFF"/>
              </a:solidFill>
            </a:endParaRPr>
          </a:p>
          <a:p>
            <a:r>
              <a:rPr lang="en-US" sz="1150">
                <a:solidFill>
                  <a:srgbClr val="FFFFFF"/>
                </a:solidFill>
              </a:rPr>
              <a:t>&amp;bull; Update Step: Recompute &amp;mu;_k = (1 / |C_k|) &amp;Sigma; x_i (Arithmetic mean).</a:t>
            </a:r>
            <a:endParaRPr lang="en-US" sz="1150">
              <a:solidFill>
                <a:srgbClr val="FFFFFF"/>
              </a:solidFill>
            </a:endParaRPr>
          </a:p>
          <a:p>
            <a:r>
              <a:rPr lang="en-US" sz="1150">
                <a:solidFill>
                  <a:srgbClr val="FFFFFF"/>
                </a:solidFill>
              </a:rPr>
              <a:t>&amp;bull; Convergence: Terminate when centroid shift &lt; 10^-5 or I &gt;= 100.</a:t>
            </a:r>
            <a:endParaRPr lang="en-US" sz="1150">
              <a:solidFill>
                <a:srgbClr val="FFFFFF"/>
              </a:solidFill>
            </a:endParaRPr>
          </a:p>
        </p:txBody>
      </p:sp>
      <p:sp>
        <p:nvSpPr>
          <p:cNvPr id="4" name="Text Box 3"/>
          <p:cNvSpPr txBox="1"/>
          <p:nvPr/>
        </p:nvSpPr>
        <p:spPr>
          <a:xfrm>
            <a:off x="6350000" y="1270000"/>
            <a:ext cx="5334000" cy="2037715"/>
          </a:xfrm>
          <a:prstGeom prst="rect">
            <a:avLst/>
          </a:prstGeom>
          <a:noFill/>
        </p:spPr>
        <p:txBody>
          <a:bodyPr wrap="square" rtlCol="0" anchor="t">
            <a:spAutoFit/>
          </a:bodyPr>
          <a:p>
            <a:r>
              <a:rPr lang="en-US" sz="1150" b="1">
                <a:solidFill>
                  <a:srgbClr val="FFFFFF"/>
                </a:solidFill>
              </a:rPr>
              <a:t>Inductive Bias &amp; Structural Limits</a:t>
            </a:r>
            <a:endParaRPr lang="en-US" sz="1150" b="1">
              <a:solidFill>
                <a:srgbClr val="FFFFFF"/>
              </a:solidFill>
            </a:endParaRPr>
          </a:p>
          <a:p>
            <a:endParaRPr lang="en-US" sz="1150">
              <a:solidFill>
                <a:srgbClr val="FFFFFF"/>
              </a:solidFill>
            </a:endParaRPr>
          </a:p>
          <a:p>
            <a:r>
              <a:rPr lang="en-US" sz="1150">
                <a:solidFill>
                  <a:srgbClr val="FFFFFF"/>
                </a:solidFill>
              </a:rPr>
              <a:t>&amp;bull; Noise Averaging Advantage: Centroid update is an arithmetic mean. Centroid variance is &amp;sigma;^2 / N_k, naturally dampening zero-mean Gaussian noise.</a:t>
            </a:r>
            <a:endParaRPr lang="en-US" sz="1150">
              <a:solidFill>
                <a:srgbClr val="FFFFFF"/>
              </a:solidFill>
            </a:endParaRPr>
          </a:p>
          <a:p>
            <a:endParaRPr lang="en-US" sz="1150">
              <a:solidFill>
                <a:srgbClr val="FFFFFF"/>
              </a:solidFill>
            </a:endParaRPr>
          </a:p>
          <a:p>
            <a:r>
              <a:rPr lang="en-US" sz="1150">
                <a:solidFill>
                  <a:srgbClr val="FFFFFF"/>
                </a:solidFill>
              </a:rPr>
              <a:t>&amp;bull; Linear Hyperplane Constraint: Decision boundaries are linear Voronoi bisectors {x : ||x - &amp;mu;_A|| = ||x - &amp;mu;_B||}.</a:t>
            </a:r>
            <a:endParaRPr lang="en-US" sz="1150">
              <a:solidFill>
                <a:srgbClr val="FFFFFF"/>
              </a:solidFill>
            </a:endParaRPr>
          </a:p>
          <a:p>
            <a:endParaRPr lang="en-US" sz="1150">
              <a:solidFill>
                <a:srgbClr val="FFFFFF"/>
              </a:solidFill>
            </a:endParaRPr>
          </a:p>
          <a:p>
            <a:r>
              <a:rPr lang="en-US" sz="1150">
                <a:solidFill>
                  <a:srgbClr val="FFFFFF"/>
                </a:solidFill>
              </a:rPr>
              <a:t>&amp;bull; Geometric Blindness: Cannot bend around curved arcs or separate nested concentric shells.</a:t>
            </a:r>
            <a:endParaRPr lang="en-US" sz="115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GRAPH PARADIGM</a:t>
            </a:r>
            <a:endParaRPr lang="en-US" sz="1000" b="1">
              <a:solidFill>
                <a:srgbClr val="3B82F6"/>
              </a:solidFill>
            </a:endParaRPr>
          </a:p>
          <a:p>
            <a:r>
              <a:rPr lang="en-US" sz="2200" b="1">
                <a:solidFill>
                  <a:srgbClr val="FFFFFF"/>
                </a:solidFill>
              </a:rPr>
              <a:t>Prim's MST &amp; Graph-Theoretic Cuts</a:t>
            </a:r>
            <a:endParaRPr lang="en-US" sz="2200" b="1">
              <a:solidFill>
                <a:srgbClr val="FFFFFF"/>
              </a:solidFill>
            </a:endParaRPr>
          </a:p>
        </p:txBody>
      </p:sp>
      <p:sp>
        <p:nvSpPr>
          <p:cNvPr id="3" name="Text Box 2"/>
          <p:cNvSpPr txBox="1"/>
          <p:nvPr/>
        </p:nvSpPr>
        <p:spPr>
          <a:xfrm>
            <a:off x="508000" y="1270000"/>
            <a:ext cx="5588000" cy="1684020"/>
          </a:xfrm>
          <a:prstGeom prst="rect">
            <a:avLst/>
          </a:prstGeom>
          <a:noFill/>
        </p:spPr>
        <p:txBody>
          <a:bodyPr wrap="square" rtlCol="0" anchor="t">
            <a:spAutoFit/>
          </a:bodyPr>
          <a:p>
            <a:r>
              <a:rPr lang="en-US" sz="1150" b="1">
                <a:solidFill>
                  <a:srgbClr val="FFFFFF"/>
                </a:solidFill>
              </a:rPr>
              <a:t>Graph-Theoretic Formulation</a:t>
            </a:r>
            <a:endParaRPr lang="en-US" sz="1150" b="1">
              <a:solidFill>
                <a:srgbClr val="FFFFFF"/>
              </a:solidFill>
            </a:endParaRPr>
          </a:p>
          <a:p>
            <a:endParaRPr lang="en-US" sz="1150">
              <a:solidFill>
                <a:srgbClr val="FFFFFF"/>
              </a:solidFill>
            </a:endParaRPr>
          </a:p>
          <a:p>
            <a:r>
              <a:rPr lang="en-US" sz="1150">
                <a:solidFill>
                  <a:srgbClr val="FFFFFF"/>
                </a:solidFill>
              </a:rPr>
              <a:t>Complete Graph G = (V, E), edge weights w(u, v) = ||u - v||</a:t>
            </a:r>
            <a:endParaRPr lang="en-US" sz="1150">
              <a:solidFill>
                <a:srgbClr val="FFFFFF"/>
              </a:solidFill>
            </a:endParaRPr>
          </a:p>
          <a:p>
            <a:endParaRPr lang="en-US" sz="1150">
              <a:solidFill>
                <a:srgbClr val="FFFFFF"/>
              </a:solidFill>
            </a:endParaRPr>
          </a:p>
          <a:p>
            <a:r>
              <a:rPr lang="en-US" sz="1150">
                <a:solidFill>
                  <a:srgbClr val="FFFFFF"/>
                </a:solidFill>
              </a:rPr>
              <a:t>&amp;bull; Prim's Dense MST: Greedily adds min-weight cut edge using priority array &amp;kappa;[v]. Time complexity: &amp;Theta;(N^2).</a:t>
            </a:r>
            <a:endParaRPr lang="en-US" sz="1150">
              <a:solidFill>
                <a:srgbClr val="FFFFFF"/>
              </a:solidFill>
            </a:endParaRPr>
          </a:p>
          <a:p>
            <a:r>
              <a:rPr lang="en-US" sz="1150">
                <a:solidFill>
                  <a:srgbClr val="FFFFFF"/>
                </a:solidFill>
              </a:rPr>
              <a:t>&amp;bull; Zahn's Partitioning: Sort all N - 1 tree edges; delete the (K - 1) longest edges.</a:t>
            </a:r>
            <a:endParaRPr lang="en-US" sz="1150">
              <a:solidFill>
                <a:srgbClr val="FFFFFF"/>
              </a:solidFill>
            </a:endParaRPr>
          </a:p>
          <a:p>
            <a:r>
              <a:rPr lang="en-US" sz="1150">
                <a:solidFill>
                  <a:srgbClr val="FFFFFF"/>
                </a:solidFill>
              </a:rPr>
              <a:t>&amp;bull; Component Extraction: Disjoint Set Union (Union-Find) labels the K connected subtrees.</a:t>
            </a:r>
            <a:endParaRPr lang="en-US" sz="1150">
              <a:solidFill>
                <a:srgbClr val="FFFFFF"/>
              </a:solidFill>
            </a:endParaRPr>
          </a:p>
        </p:txBody>
      </p:sp>
      <p:sp>
        <p:nvSpPr>
          <p:cNvPr id="4" name="Text Box 3"/>
          <p:cNvSpPr txBox="1"/>
          <p:nvPr/>
        </p:nvSpPr>
        <p:spPr>
          <a:xfrm>
            <a:off x="6350000" y="1270000"/>
            <a:ext cx="5334000" cy="1506855"/>
          </a:xfrm>
          <a:prstGeom prst="rect">
            <a:avLst/>
          </a:prstGeom>
          <a:noFill/>
        </p:spPr>
        <p:txBody>
          <a:bodyPr wrap="square" rtlCol="0" anchor="t">
            <a:spAutoFit/>
          </a:bodyPr>
          <a:p>
            <a:r>
              <a:rPr lang="en-US" sz="1150" b="1">
                <a:solidFill>
                  <a:srgbClr val="FFFFFF"/>
                </a:solidFill>
              </a:rPr>
              <a:t>Manifold Transitivity &amp; Fragility</a:t>
            </a:r>
            <a:endParaRPr lang="en-US" sz="1150" b="1">
              <a:solidFill>
                <a:srgbClr val="FFFFFF"/>
              </a:solidFill>
            </a:endParaRPr>
          </a:p>
          <a:p>
            <a:endParaRPr lang="en-US" sz="1150">
              <a:solidFill>
                <a:srgbClr val="FFFFFF"/>
              </a:solidFill>
            </a:endParaRPr>
          </a:p>
          <a:p>
            <a:r>
              <a:rPr lang="en-US" sz="1150">
                <a:solidFill>
                  <a:srgbClr val="FFFFFF"/>
                </a:solidFill>
              </a:rPr>
              <a:t>&amp;bull; Single-Linkage Chaining: Points connect through sequences of short pairwise edges, discovering arbitrary continuous non-linear manifolds.</a:t>
            </a:r>
            <a:endParaRPr lang="en-US" sz="1150">
              <a:solidFill>
                <a:srgbClr val="FFFFFF"/>
              </a:solidFill>
            </a:endParaRPr>
          </a:p>
          <a:p>
            <a:endParaRPr lang="en-US" sz="1150">
              <a:solidFill>
                <a:srgbClr val="FFFFFF"/>
              </a:solidFill>
            </a:endParaRPr>
          </a:p>
          <a:p>
            <a:r>
              <a:rPr lang="en-US" sz="1150">
                <a:solidFill>
                  <a:srgbClr val="FFFFFF"/>
                </a:solidFill>
              </a:rPr>
              <a:t>&amp;bull; The Outlier Fragility: Cluster distance is defined by the nearest neighbor pair. Intermediate noise points bridge clusters, while isolated outliers hijack tree cuts.</a:t>
            </a:r>
            <a:endParaRPr lang="en-US" sz="115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SOFTWARE ENGINEERING</a:t>
            </a:r>
            <a:endParaRPr lang="en-US" sz="1000" b="1">
              <a:solidFill>
                <a:srgbClr val="3B82F6"/>
              </a:solidFill>
            </a:endParaRPr>
          </a:p>
          <a:p>
            <a:r>
              <a:rPr lang="en-US" sz="2200" b="1">
                <a:solidFill>
                  <a:srgbClr val="FFFFFF"/>
                </a:solidFill>
              </a:rPr>
              <a:t>Proposed Architecture: 100% Browser-Native</a:t>
            </a:r>
            <a:endParaRPr lang="en-US" sz="2200" b="1">
              <a:solidFill>
                <a:srgbClr val="FFFFFF"/>
              </a:solidFill>
            </a:endParaRPr>
          </a:p>
        </p:txBody>
      </p:sp>
      <p:sp>
        <p:nvSpPr>
          <p:cNvPr id="3" name="Text Box 2"/>
          <p:cNvSpPr txBox="1"/>
          <p:nvPr/>
        </p:nvSpPr>
        <p:spPr>
          <a:xfrm>
            <a:off x="508000" y="1270000"/>
            <a:ext cx="3429000" cy="1276350"/>
          </a:xfrm>
          <a:prstGeom prst="rect">
            <a:avLst/>
          </a:prstGeom>
          <a:noFill/>
        </p:spPr>
        <p:txBody>
          <a:bodyPr wrap="square" rtlCol="0" anchor="t">
            <a:spAutoFit/>
          </a:bodyPr>
          <a:p>
            <a:r>
              <a:rPr lang="en-US" sz="1100" b="1">
                <a:solidFill>
                  <a:srgbClr val="FFFFFF"/>
                </a:solidFill>
              </a:rPr>
              <a:t>Data &amp; PRNG Layer</a:t>
            </a:r>
            <a:endParaRPr lang="en-US" sz="1100" b="1">
              <a:solidFill>
                <a:srgbClr val="FFFFFF"/>
              </a:solidFill>
            </a:endParaRPr>
          </a:p>
          <a:p>
            <a:endParaRPr lang="en-US" sz="1100">
              <a:solidFill>
                <a:srgbClr val="FFFFFF"/>
              </a:solidFill>
            </a:endParaRPr>
          </a:p>
          <a:p>
            <a:r>
              <a:rPr lang="en-US" sz="1100">
                <a:solidFill>
                  <a:srgbClr val="FFFFFF"/>
                </a:solidFill>
              </a:rPr>
              <a:t>&amp;bull; js/data/prng.js: Linear Congruential Generator (2^32 modulus) for bit-for-bit seed reproducibility.</a:t>
            </a:r>
            <a:endParaRPr lang="en-US" sz="1100">
              <a:solidFill>
                <a:srgbClr val="FFFFFF"/>
              </a:solidFill>
            </a:endParaRPr>
          </a:p>
          <a:p>
            <a:r>
              <a:rPr lang="en-US" sz="1100">
                <a:solidFill>
                  <a:srgbClr val="FFFFFF"/>
                </a:solidFill>
              </a:rPr>
              <a:t>&amp;bull; js/data/datasets.js: Parametric generators for Blobs, Moons, and Circles with Box-Muller transforms.</a:t>
            </a:r>
            <a:endParaRPr lang="en-US" sz="1100">
              <a:solidFill>
                <a:srgbClr val="FFFFFF"/>
              </a:solidFill>
            </a:endParaRPr>
          </a:p>
        </p:txBody>
      </p:sp>
      <p:sp>
        <p:nvSpPr>
          <p:cNvPr id="4" name="Text Box 3"/>
          <p:cNvSpPr txBox="1"/>
          <p:nvPr/>
        </p:nvSpPr>
        <p:spPr>
          <a:xfrm>
            <a:off x="4318000" y="1270000"/>
            <a:ext cx="3556000" cy="1445260"/>
          </a:xfrm>
          <a:prstGeom prst="rect">
            <a:avLst/>
          </a:prstGeom>
          <a:noFill/>
        </p:spPr>
        <p:txBody>
          <a:bodyPr wrap="square" rtlCol="0" anchor="t">
            <a:spAutoFit/>
          </a:bodyPr>
          <a:p>
            <a:r>
              <a:rPr lang="en-US" sz="1100" b="1">
                <a:solidFill>
                  <a:srgbClr val="FFFFFF"/>
                </a:solidFill>
              </a:rPr>
              <a:t>Algorithm &amp; Evaluation</a:t>
            </a:r>
            <a:endParaRPr lang="en-US" sz="1100" b="1">
              <a:solidFill>
                <a:srgbClr val="FFFFFF"/>
              </a:solidFill>
            </a:endParaRPr>
          </a:p>
          <a:p>
            <a:endParaRPr lang="en-US" sz="1100">
              <a:solidFill>
                <a:srgbClr val="FFFFFF"/>
              </a:solidFill>
            </a:endParaRPr>
          </a:p>
          <a:p>
            <a:r>
              <a:rPr lang="en-US" sz="1100">
                <a:solidFill>
                  <a:srgbClr val="FFFFFF"/>
                </a:solidFill>
              </a:rPr>
              <a:t>&amp;bull; js/algorithms/: Native Lloyd K-Means++ and Prim MST with Union-Find.</a:t>
            </a:r>
            <a:endParaRPr lang="en-US" sz="1100">
              <a:solidFill>
                <a:srgbClr val="FFFFFF"/>
              </a:solidFill>
            </a:endParaRPr>
          </a:p>
          <a:p>
            <a:r>
              <a:rPr lang="en-US" sz="1100">
                <a:solidFill>
                  <a:srgbClr val="FFFFFF"/>
                </a:solidFill>
              </a:rPr>
              <a:t>&amp;bull; js/metrics/: Contingency tables and Hubert &amp; Arabie Adjusted Rand Index.</a:t>
            </a:r>
            <a:endParaRPr lang="en-US" sz="1100">
              <a:solidFill>
                <a:srgbClr val="FFFFFF"/>
              </a:solidFill>
            </a:endParaRPr>
          </a:p>
          <a:p>
            <a:r>
              <a:rPr lang="en-US" sz="1100">
                <a:solidFill>
                  <a:srgbClr val="FFFFFF"/>
                </a:solidFill>
              </a:rPr>
              <a:t>&amp;bull; js/experiments/: Automated robustness sweeps and benchmark harness.</a:t>
            </a:r>
            <a:endParaRPr lang="en-US" sz="1100">
              <a:solidFill>
                <a:srgbClr val="FFFFFF"/>
              </a:solidFill>
            </a:endParaRPr>
          </a:p>
        </p:txBody>
      </p:sp>
      <p:sp>
        <p:nvSpPr>
          <p:cNvPr id="5" name="Text Box 4"/>
          <p:cNvSpPr txBox="1"/>
          <p:nvPr/>
        </p:nvSpPr>
        <p:spPr>
          <a:xfrm>
            <a:off x="8255000" y="1270000"/>
            <a:ext cx="3429000" cy="1445260"/>
          </a:xfrm>
          <a:prstGeom prst="rect">
            <a:avLst/>
          </a:prstGeom>
          <a:noFill/>
        </p:spPr>
        <p:txBody>
          <a:bodyPr wrap="square" rtlCol="0" anchor="t">
            <a:spAutoFit/>
          </a:bodyPr>
          <a:p>
            <a:r>
              <a:rPr lang="en-US" sz="1100" b="1">
                <a:solidFill>
                  <a:srgbClr val="FFFFFF"/>
                </a:solidFill>
              </a:rPr>
              <a:t>Visualization &amp; Verification</a:t>
            </a:r>
            <a:endParaRPr lang="en-US" sz="1100" b="1">
              <a:solidFill>
                <a:srgbClr val="FFFFFF"/>
              </a:solidFill>
            </a:endParaRPr>
          </a:p>
          <a:p>
            <a:endParaRPr lang="en-US" sz="1100">
              <a:solidFill>
                <a:srgbClr val="FFFFFF"/>
              </a:solidFill>
            </a:endParaRPr>
          </a:p>
          <a:p>
            <a:r>
              <a:rPr lang="en-US" sz="1100">
                <a:solidFill>
                  <a:srgbClr val="FFFFFF"/>
                </a:solidFill>
              </a:rPr>
              <a:t>&amp;bull; Canvas API: High-DPI 2D coordinate scatters and tree overlays.</a:t>
            </a:r>
            <a:endParaRPr lang="en-US" sz="1100">
              <a:solidFill>
                <a:srgbClr val="FFFFFF"/>
              </a:solidFill>
            </a:endParaRPr>
          </a:p>
          <a:p>
            <a:r>
              <a:rPr lang="en-US" sz="1100">
                <a:solidFill>
                  <a:srgbClr val="FFFFFF"/>
                </a:solidFill>
              </a:rPr>
              <a:t>&amp;bull; Step-by-Step Explorer: Centroid migration and Prim frontier animation.</a:t>
            </a:r>
            <a:endParaRPr lang="en-US" sz="1100">
              <a:solidFill>
                <a:srgbClr val="FFFFFF"/>
              </a:solidFill>
            </a:endParaRPr>
          </a:p>
          <a:p>
            <a:r>
              <a:rPr lang="en-US" sz="1100">
                <a:solidFill>
                  <a:srgbClr val="FFFFFF"/>
                </a:solidFill>
              </a:rPr>
              <a:t>&amp;bull; Unit Tests: 64 automated tests passing in under 50 ms.</a:t>
            </a:r>
            <a:endParaRPr lang="en-US" sz="11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EXPERIMENTAL SETUP</a:t>
            </a:r>
            <a:endParaRPr lang="en-US" sz="1000" b="1">
              <a:solidFill>
                <a:srgbClr val="3B82F6"/>
              </a:solidFill>
            </a:endParaRPr>
          </a:p>
          <a:p>
            <a:r>
              <a:rPr lang="en-US" sz="2200" b="1">
                <a:solidFill>
                  <a:srgbClr val="FFFFFF"/>
                </a:solidFill>
              </a:rPr>
              <a:t>Synthetic Dataset Geometries (N = 300 Inliers)</a:t>
            </a:r>
            <a:endParaRPr lang="en-US" sz="2200" b="1">
              <a:solidFill>
                <a:srgbClr val="FFFFFF"/>
              </a:solidFill>
            </a:endParaRPr>
          </a:p>
        </p:txBody>
      </p:sp>
      <p:pic>
        <p:nvPicPr>
          <p:cNvPr id="3" name="Picture 2" descr="blobs_comparison"/>
          <p:cNvPicPr>
            <a:picLocks noChangeAspect="1"/>
          </p:cNvPicPr>
          <p:nvPr/>
        </p:nvPicPr>
        <p:blipFill>
          <a:blip r:embed="rId1"/>
          <a:stretch>
            <a:fillRect/>
          </a:stretch>
        </p:blipFill>
        <p:spPr>
          <a:xfrm>
            <a:off x="508000" y="1524000"/>
            <a:ext cx="3429000" cy="2794000"/>
          </a:xfrm>
          <a:prstGeom prst="rect">
            <a:avLst/>
          </a:prstGeom>
        </p:spPr>
      </p:pic>
      <p:pic>
        <p:nvPicPr>
          <p:cNvPr id="4" name="Picture 3" descr="moons_comparison"/>
          <p:cNvPicPr>
            <a:picLocks noChangeAspect="1"/>
          </p:cNvPicPr>
          <p:nvPr/>
        </p:nvPicPr>
        <p:blipFill>
          <a:blip r:embed="rId2"/>
          <a:stretch>
            <a:fillRect/>
          </a:stretch>
        </p:blipFill>
        <p:spPr>
          <a:xfrm>
            <a:off x="4381500" y="1524000"/>
            <a:ext cx="3429000" cy="2794000"/>
          </a:xfrm>
          <a:prstGeom prst="rect">
            <a:avLst/>
          </a:prstGeom>
        </p:spPr>
      </p:pic>
      <p:pic>
        <p:nvPicPr>
          <p:cNvPr id="5" name="Picture 4" descr="circles_comparison"/>
          <p:cNvPicPr>
            <a:picLocks noChangeAspect="1"/>
          </p:cNvPicPr>
          <p:nvPr/>
        </p:nvPicPr>
        <p:blipFill>
          <a:blip r:embed="rId3"/>
          <a:stretch>
            <a:fillRect/>
          </a:stretch>
        </p:blipFill>
        <p:spPr>
          <a:xfrm>
            <a:off x="8255000" y="1524000"/>
            <a:ext cx="3429000" cy="2794000"/>
          </a:xfrm>
          <a:prstGeom prst="rect">
            <a:avLst/>
          </a:prstGeom>
        </p:spPr>
      </p:pic>
      <p:sp>
        <p:nvSpPr>
          <p:cNvPr id="6" name="Text Box 5"/>
          <p:cNvSpPr txBox="1"/>
          <p:nvPr/>
        </p:nvSpPr>
        <p:spPr>
          <a:xfrm>
            <a:off x="508000" y="4572000"/>
            <a:ext cx="11176000" cy="598805"/>
          </a:xfrm>
          <a:prstGeom prst="rect">
            <a:avLst/>
          </a:prstGeom>
          <a:noFill/>
        </p:spPr>
        <p:txBody>
          <a:bodyPr wrap="square" rtlCol="0" anchor="t">
            <a:spAutoFit/>
          </a:bodyPr>
          <a:p>
            <a:r>
              <a:rPr lang="en-US" sz="1100">
                <a:solidFill>
                  <a:srgbClr val="FFFFFF"/>
                </a:solidFill>
              </a:rPr>
              <a:t>1. Gaussian Blobs (K = 3): Convex, isotropic spherical normal clusters (100 pts/cluster). Linearly separable.</a:t>
            </a:r>
            <a:endParaRPr lang="en-US" sz="1100">
              <a:solidFill>
                <a:srgbClr val="FFFFFF"/>
              </a:solidFill>
            </a:endParaRPr>
          </a:p>
          <a:p>
            <a:r>
              <a:rPr lang="en-US" sz="1100">
                <a:solidFill>
                  <a:srgbClr val="FFFFFF"/>
                </a:solidFill>
              </a:rPr>
              <a:t>2. Two Moons (K = 2): Non-linear interlocking semicircular crescents (150 pts/cluster). Requires manifold transitivity.</a:t>
            </a:r>
            <a:endParaRPr lang="en-US" sz="1100">
              <a:solidFill>
                <a:srgbClr val="FFFFFF"/>
              </a:solidFill>
            </a:endParaRPr>
          </a:p>
          <a:p>
            <a:r>
              <a:rPr lang="en-US" sz="1100">
                <a:solidFill>
                  <a:srgbClr val="FFFFFF"/>
                </a:solidFill>
              </a:rPr>
              <a:t>3. Concentric Circles (K = 2): Non-linear nested rings (150 pts/cluster). Centers coincide at (0, 0), defeating centroid models.</a:t>
            </a:r>
            <a:endParaRPr lang="en-US" sz="11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RIGOROUS EVALUATION</a:t>
            </a:r>
            <a:endParaRPr lang="en-US" sz="1000" b="1">
              <a:solidFill>
                <a:srgbClr val="3B82F6"/>
              </a:solidFill>
            </a:endParaRPr>
          </a:p>
          <a:p>
            <a:r>
              <a:rPr lang="en-US" sz="2200" b="1">
                <a:solidFill>
                  <a:srgbClr val="FFFFFF"/>
                </a:solidFill>
              </a:rPr>
              <a:t>Controlled Methodology &amp; Inlier Metric Protocol</a:t>
            </a:r>
            <a:endParaRPr lang="en-US" sz="2200" b="1">
              <a:solidFill>
                <a:srgbClr val="FFFFFF"/>
              </a:solidFill>
            </a:endParaRPr>
          </a:p>
        </p:txBody>
      </p:sp>
      <p:sp>
        <p:nvSpPr>
          <p:cNvPr id="3" name="Text Box 2"/>
          <p:cNvSpPr txBox="1"/>
          <p:nvPr/>
        </p:nvSpPr>
        <p:spPr>
          <a:xfrm>
            <a:off x="508000" y="1270000"/>
            <a:ext cx="5588000" cy="1684020"/>
          </a:xfrm>
          <a:prstGeom prst="rect">
            <a:avLst/>
          </a:prstGeom>
          <a:noFill/>
        </p:spPr>
        <p:txBody>
          <a:bodyPr wrap="square" rtlCol="0" anchor="t">
            <a:spAutoFit/>
          </a:bodyPr>
          <a:p>
            <a:r>
              <a:rPr lang="en-US" sz="1150" b="1">
                <a:solidFill>
                  <a:srgbClr val="FFFFFF"/>
                </a:solidFill>
              </a:rPr>
              <a:t>Controlled Perturbation Design</a:t>
            </a:r>
            <a:endParaRPr lang="en-US" sz="1150" b="1">
              <a:solidFill>
                <a:srgbClr val="FFFFFF"/>
              </a:solidFill>
            </a:endParaRPr>
          </a:p>
          <a:p>
            <a:endParaRPr lang="en-US" sz="1150">
              <a:solidFill>
                <a:srgbClr val="FFFFFF"/>
              </a:solidFill>
            </a:endParaRPr>
          </a:p>
          <a:p>
            <a:r>
              <a:rPr lang="en-US" sz="1150">
                <a:solidFill>
                  <a:srgbClr val="FFFFFF"/>
                </a:solidFill>
              </a:rPr>
              <a:t>&amp;bull; Experiment A (Noise Sweep): Gaussian noise &amp;sigma; in [0.00, 0.20]; outliers fixed at 0%.</a:t>
            </a:r>
            <a:endParaRPr lang="en-US" sz="1150">
              <a:solidFill>
                <a:srgbClr val="FFFFFF"/>
              </a:solidFill>
            </a:endParaRPr>
          </a:p>
          <a:p>
            <a:r>
              <a:rPr lang="en-US" sz="1150">
                <a:solidFill>
                  <a:srgbClr val="FFFFFF"/>
                </a:solidFill>
              </a:rPr>
              <a:t>&amp;bull; Experiment B (Outlier Sweep): Ambient outliers &amp;eta; in [0%, 20%] (0, 15, 30, 60 pts); noise fixed at 0.00.</a:t>
            </a:r>
            <a:endParaRPr lang="en-US" sz="1150">
              <a:solidFill>
                <a:srgbClr val="FFFFFF"/>
              </a:solidFill>
            </a:endParaRPr>
          </a:p>
          <a:p>
            <a:r>
              <a:rPr lang="en-US" sz="1150">
                <a:solidFill>
                  <a:srgbClr val="FFFFFF"/>
                </a:solidFill>
              </a:rPr>
              <a:t>&amp;bull; Experiment C (Baseline): Clean matched baseline (&amp;sigma;=0.00, &amp;eta;=0%).</a:t>
            </a:r>
            <a:endParaRPr lang="en-US" sz="1150">
              <a:solidFill>
                <a:srgbClr val="FFFFFF"/>
              </a:solidFill>
            </a:endParaRPr>
          </a:p>
          <a:p>
            <a:r>
              <a:rPr lang="en-US" sz="1150">
                <a:solidFill>
                  <a:srgbClr val="FFFFFF"/>
                </a:solidFill>
              </a:rPr>
              <a:t>&amp;bull; Paired Trials: Seeds {11, 22, 33} &amp;rarr; identical coordinates fed to both algorithms &amp;rarr; 144 evaluations.</a:t>
            </a:r>
            <a:endParaRPr lang="en-US" sz="1150">
              <a:solidFill>
                <a:srgbClr val="FFFFFF"/>
              </a:solidFill>
            </a:endParaRPr>
          </a:p>
        </p:txBody>
      </p:sp>
      <p:sp>
        <p:nvSpPr>
          <p:cNvPr id="4" name="Text Box 3"/>
          <p:cNvSpPr txBox="1"/>
          <p:nvPr/>
        </p:nvSpPr>
        <p:spPr>
          <a:xfrm>
            <a:off x="6350000" y="1270000"/>
            <a:ext cx="5334000" cy="1684020"/>
          </a:xfrm>
          <a:prstGeom prst="rect">
            <a:avLst/>
          </a:prstGeom>
          <a:noFill/>
        </p:spPr>
        <p:txBody>
          <a:bodyPr wrap="square" rtlCol="0" anchor="t">
            <a:spAutoFit/>
          </a:bodyPr>
          <a:p>
            <a:r>
              <a:rPr lang="en-US" sz="1150" b="1">
                <a:solidFill>
                  <a:srgbClr val="FFFFFF"/>
                </a:solidFill>
              </a:rPr>
              <a:t>Evaluation Metrics &amp; Inlier Rule</a:t>
            </a:r>
            <a:endParaRPr lang="en-US" sz="1150" b="1">
              <a:solidFill>
                <a:srgbClr val="FFFFFF"/>
              </a:solidFill>
            </a:endParaRPr>
          </a:p>
          <a:p>
            <a:endParaRPr lang="en-US" sz="1150">
              <a:solidFill>
                <a:srgbClr val="FFFFFF"/>
              </a:solidFill>
            </a:endParaRPr>
          </a:p>
          <a:p>
            <a:r>
              <a:rPr lang="en-US" sz="1150">
                <a:solidFill>
                  <a:srgbClr val="FFFFFF"/>
                </a:solidFill>
              </a:rPr>
              <a:t>&amp;bull; Adjusted Rand Index (ARI): Chance-corrected partition concordance (Hubert &amp; Arabie, 1985) in [-1.0, 1.0]. Expected value is 0.0 for random chance; 1.0 for perfect partition.</a:t>
            </a:r>
            <a:endParaRPr lang="en-US" sz="1150">
              <a:solidFill>
                <a:srgbClr val="FFFFFF"/>
              </a:solidFill>
            </a:endParaRPr>
          </a:p>
          <a:p>
            <a:r>
              <a:rPr lang="en-US" sz="1150">
                <a:solidFill>
                  <a:srgbClr val="FFFFFF"/>
                </a:solidFill>
              </a:rPr>
              <a:t>&amp;bull; Inlier Evaluation Protocol: ARI computed strictly over the 300 ground-truth inliers to prevent artificial outlier cluster inflation.</a:t>
            </a:r>
            <a:endParaRPr lang="en-US" sz="1150">
              <a:solidFill>
                <a:srgbClr val="FFFFFF"/>
              </a:solidFill>
            </a:endParaRPr>
          </a:p>
          <a:p>
            <a:r>
              <a:rPr lang="en-US" sz="1150">
                <a:solidFill>
                  <a:srgbClr val="FFFFFF"/>
                </a:solidFill>
              </a:rPr>
              <a:t>&amp;bull; Baseline Degradation: &amp;Delta;ARI = max(0.0, ARI_base - ARI_pert) measuring non-negative loss.</a:t>
            </a:r>
            <a:endParaRPr lang="en-US" sz="115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EMPIRICAL RESULTS</a:t>
            </a:r>
            <a:endParaRPr lang="en-US" sz="1000" b="1">
              <a:solidFill>
                <a:srgbClr val="3B82F6"/>
              </a:solidFill>
            </a:endParaRPr>
          </a:p>
          <a:p>
            <a:r>
              <a:rPr lang="en-US" sz="2200" b="1">
                <a:solidFill>
                  <a:srgbClr val="FFFFFF"/>
                </a:solidFill>
              </a:rPr>
              <a:t>Clean Geometry Results: The Topological Contrast</a:t>
            </a:r>
            <a:endParaRPr lang="en-US" sz="2200" b="1">
              <a:solidFill>
                <a:srgbClr val="FFFFFF"/>
              </a:solidFill>
            </a:endParaRPr>
          </a:p>
        </p:txBody>
      </p:sp>
      <p:sp>
        <p:nvSpPr>
          <p:cNvPr id="3" name="Text Box 2"/>
          <p:cNvSpPr txBox="1"/>
          <p:nvPr/>
        </p:nvSpPr>
        <p:spPr>
          <a:xfrm>
            <a:off x="508000" y="1206500"/>
            <a:ext cx="5842000" cy="2291715"/>
          </a:xfrm>
          <a:prstGeom prst="rect">
            <a:avLst/>
          </a:prstGeom>
          <a:noFill/>
        </p:spPr>
        <p:txBody>
          <a:bodyPr wrap="square" rtlCol="0" anchor="t">
            <a:spAutoFit/>
          </a:bodyPr>
          <a:p>
            <a:r>
              <a:rPr lang="en-US" sz="1100" b="1">
                <a:solidFill>
                  <a:srgbClr val="FFFFFF"/>
                </a:solidFill>
              </a:rPr>
              <a:t>Measured Baseline Concordance (&amp;sigma;=0.00, &amp;eta;=0%)</a:t>
            </a:r>
            <a:endParaRPr lang="en-US" sz="1100" b="1">
              <a:solidFill>
                <a:srgbClr val="FFFFFF"/>
              </a:solidFill>
            </a:endParaRPr>
          </a:p>
          <a:p>
            <a:endParaRPr lang="en-US" sz="1100">
              <a:solidFill>
                <a:srgbClr val="FFFFFF"/>
              </a:solidFill>
            </a:endParaRPr>
          </a:p>
          <a:p>
            <a:r>
              <a:rPr lang="en-US" sz="1100">
                <a:solidFill>
                  <a:srgbClr val="FFFFFF"/>
                </a:solidFill>
              </a:rPr>
              <a:t>&amp;bull; Gaussian Blobs (K = 3):</a:t>
            </a:r>
            <a:endParaRPr lang="en-US" sz="1100">
              <a:solidFill>
                <a:srgbClr val="FFFFFF"/>
              </a:solidFill>
            </a:endParaRPr>
          </a:p>
          <a:p>
            <a:r>
              <a:rPr lang="en-US" sz="1100">
                <a:solidFill>
                  <a:srgbClr val="FFFFFF"/>
                </a:solidFill>
              </a:rPr>
              <a:t>  - K-Means ARI: 1.0000 &amp;plusmn; 0.0000</a:t>
            </a:r>
            <a:endParaRPr lang="en-US" sz="1100">
              <a:solidFill>
                <a:srgbClr val="FFFFFF"/>
              </a:solidFill>
            </a:endParaRPr>
          </a:p>
          <a:p>
            <a:r>
              <a:rPr lang="en-US" sz="1100">
                <a:solidFill>
                  <a:srgbClr val="FFFFFF"/>
                </a:solidFill>
              </a:rPr>
              <a:t>  - MST ARI:     1.0000 &amp;plusmn; 0.0000</a:t>
            </a:r>
            <a:endParaRPr lang="en-US" sz="1100">
              <a:solidFill>
                <a:srgbClr val="FFFFFF"/>
              </a:solidFill>
            </a:endParaRPr>
          </a:p>
          <a:p>
            <a:endParaRPr lang="en-US" sz="1100">
              <a:solidFill>
                <a:srgbClr val="FFFFFF"/>
              </a:solidFill>
            </a:endParaRPr>
          </a:p>
          <a:p>
            <a:r>
              <a:rPr lang="en-US" sz="1100">
                <a:solidFill>
                  <a:srgbClr val="FFFFFF"/>
                </a:solidFill>
              </a:rPr>
              <a:t>&amp;bull; Two Moons (K = 2):</a:t>
            </a:r>
            <a:endParaRPr lang="en-US" sz="1100">
              <a:solidFill>
                <a:srgbClr val="FFFFFF"/>
              </a:solidFill>
            </a:endParaRPr>
          </a:p>
          <a:p>
            <a:r>
              <a:rPr lang="en-US" sz="1100">
                <a:solidFill>
                  <a:srgbClr val="FFFFFF"/>
                </a:solidFill>
              </a:rPr>
              <a:t>  - K-Means ARI: 0.1941 &amp;plusmn; 0.0588 (Bisects crescents)</a:t>
            </a:r>
            <a:endParaRPr lang="en-US" sz="1100">
              <a:solidFill>
                <a:srgbClr val="FFFFFF"/>
              </a:solidFill>
            </a:endParaRPr>
          </a:p>
          <a:p>
            <a:r>
              <a:rPr lang="en-US" sz="1100">
                <a:solidFill>
                  <a:srgbClr val="FFFFFF"/>
                </a:solidFill>
              </a:rPr>
              <a:t>  - MST ARI:     1.0000 &amp;plusmn; 0.0000 (Traces crescents)</a:t>
            </a:r>
            <a:endParaRPr lang="en-US" sz="1100">
              <a:solidFill>
                <a:srgbClr val="FFFFFF"/>
              </a:solidFill>
            </a:endParaRPr>
          </a:p>
          <a:p>
            <a:endParaRPr lang="en-US" sz="1100">
              <a:solidFill>
                <a:srgbClr val="FFFFFF"/>
              </a:solidFill>
            </a:endParaRPr>
          </a:p>
          <a:p>
            <a:r>
              <a:rPr lang="en-US" sz="1100">
                <a:solidFill>
                  <a:srgbClr val="FFFFFF"/>
                </a:solidFill>
              </a:rPr>
              <a:t>&amp;bull; Concentric Circles (K = 2):</a:t>
            </a:r>
            <a:endParaRPr lang="en-US" sz="1100">
              <a:solidFill>
                <a:srgbClr val="FFFFFF"/>
              </a:solidFill>
            </a:endParaRPr>
          </a:p>
          <a:p>
            <a:r>
              <a:rPr lang="en-US" sz="1100">
                <a:solidFill>
                  <a:srgbClr val="FFFFFF"/>
                </a:solidFill>
              </a:rPr>
              <a:t>  - K-Means ARI: -0.0019 &amp;plusmn; 0.0012 (Chance level)</a:t>
            </a:r>
            <a:endParaRPr lang="en-US" sz="1100">
              <a:solidFill>
                <a:srgbClr val="FFFFFF"/>
              </a:solidFill>
            </a:endParaRPr>
          </a:p>
          <a:p>
            <a:r>
              <a:rPr lang="en-US" sz="1100">
                <a:solidFill>
                  <a:srgbClr val="FFFFFF"/>
                </a:solidFill>
              </a:rPr>
              <a:t>  - MST ARI:     1.0000 &amp;plusmn; 0.0000 (Separates rings)</a:t>
            </a:r>
            <a:endParaRPr lang="en-US" sz="1100">
              <a:solidFill>
                <a:srgbClr val="FFFFFF"/>
              </a:solidFill>
            </a:endParaRPr>
          </a:p>
        </p:txBody>
      </p:sp>
      <p:pic>
        <p:nvPicPr>
          <p:cNvPr id="4" name="Picture 3" descr="moons_comparison"/>
          <p:cNvPicPr>
            <a:picLocks noChangeAspect="1"/>
          </p:cNvPicPr>
          <p:nvPr/>
        </p:nvPicPr>
        <p:blipFill>
          <a:blip r:embed="rId1"/>
          <a:stretch>
            <a:fillRect/>
          </a:stretch>
        </p:blipFill>
        <p:spPr>
          <a:xfrm>
            <a:off x="6477000" y="1397000"/>
            <a:ext cx="5207000" cy="3048000"/>
          </a:xfrm>
          <a:prstGeom prst="rect">
            <a:avLst/>
          </a:prstGeom>
        </p:spPr>
      </p:pic>
      <p:sp>
        <p:nvSpPr>
          <p:cNvPr id="5" name="Text Box 4"/>
          <p:cNvSpPr txBox="1"/>
          <p:nvPr/>
        </p:nvSpPr>
        <p:spPr>
          <a:xfrm>
            <a:off x="6477000" y="4572000"/>
            <a:ext cx="5207000" cy="383540"/>
          </a:xfrm>
          <a:prstGeom prst="rect">
            <a:avLst/>
          </a:prstGeom>
          <a:noFill/>
        </p:spPr>
        <p:txBody>
          <a:bodyPr wrap="square" rtlCol="0" anchor="t">
            <a:spAutoFit/>
          </a:bodyPr>
          <a:p>
            <a:r>
              <a:rPr lang="en-US" sz="950">
                <a:solidFill>
                  <a:srgbClr val="8094A3"/>
                </a:solidFill>
              </a:rPr>
              <a:t>Figure 8.2: Ground Truth (Left) vs. K-Means (Center) vs. MST (Right) on Clean Two Moons (N = 300)</a:t>
            </a:r>
            <a:endParaRPr lang="en-US" sz="950">
              <a:solidFill>
                <a:srgbClr val="8094A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EMPIRICAL RESULTS</a:t>
            </a:r>
            <a:endParaRPr lang="en-US" sz="1000" b="1">
              <a:solidFill>
                <a:srgbClr val="3B82F6"/>
              </a:solidFill>
            </a:endParaRPr>
          </a:p>
          <a:p>
            <a:r>
              <a:rPr lang="en-US" sz="2200" b="1">
                <a:solidFill>
                  <a:srgbClr val="FFFFFF"/>
                </a:solidFill>
              </a:rPr>
              <a:t>Experiment A: Gaussian Noise Sensitivity (&amp;sigma; in [0, 0.20])</a:t>
            </a:r>
            <a:endParaRPr lang="en-US" sz="2200" b="1">
              <a:solidFill>
                <a:srgbClr val="FFFFFF"/>
              </a:solidFill>
            </a:endParaRPr>
          </a:p>
        </p:txBody>
      </p:sp>
      <p:sp>
        <p:nvSpPr>
          <p:cNvPr id="3" name="Text Box 2"/>
          <p:cNvSpPr txBox="1"/>
          <p:nvPr/>
        </p:nvSpPr>
        <p:spPr>
          <a:xfrm>
            <a:off x="508000" y="1206500"/>
            <a:ext cx="5461000" cy="2122805"/>
          </a:xfrm>
          <a:prstGeom prst="rect">
            <a:avLst/>
          </a:prstGeom>
          <a:noFill/>
        </p:spPr>
        <p:txBody>
          <a:bodyPr wrap="square" rtlCol="0" anchor="t">
            <a:spAutoFit/>
          </a:bodyPr>
          <a:p>
            <a:r>
              <a:rPr lang="en-US" sz="1100" b="1">
                <a:solidFill>
                  <a:srgbClr val="FFFFFF"/>
                </a:solidFill>
              </a:rPr>
              <a:t>Key Numerical Findings</a:t>
            </a:r>
            <a:endParaRPr lang="en-US" sz="1100" b="1">
              <a:solidFill>
                <a:srgbClr val="FFFFFF"/>
              </a:solidFill>
            </a:endParaRPr>
          </a:p>
          <a:p>
            <a:endParaRPr lang="en-US" sz="1100">
              <a:solidFill>
                <a:srgbClr val="FFFFFF"/>
              </a:solidFill>
            </a:endParaRPr>
          </a:p>
          <a:p>
            <a:r>
              <a:rPr lang="en-US" sz="1100">
                <a:solidFill>
                  <a:srgbClr val="FFFFFF"/>
                </a:solidFill>
              </a:rPr>
              <a:t>&amp;bull; Gaussian Blobs: Both K-Means and MST maintain perfect ARI = 1.0000 across all noise levels up to &amp;sigma; = 0.20 (&amp;Delta;ARI = 0.0000).</a:t>
            </a:r>
            <a:endParaRPr lang="en-US" sz="1100">
              <a:solidFill>
                <a:srgbClr val="FFFFFF"/>
              </a:solidFill>
            </a:endParaRPr>
          </a:p>
          <a:p>
            <a:endParaRPr lang="en-US" sz="1100">
              <a:solidFill>
                <a:srgbClr val="FFFFFF"/>
              </a:solidFill>
            </a:endParaRPr>
          </a:p>
          <a:p>
            <a:r>
              <a:rPr lang="en-US" sz="1100">
                <a:solidFill>
                  <a:srgbClr val="FFFFFF"/>
                </a:solidFill>
              </a:rPr>
              <a:t>&amp;bull; Two Moons: MST holds ARI = 1.0000 at &amp;sigma; = 0.05, drops to 0.6667 at &amp;sigma; = 0.10, and collapses to 0.0000 at &amp;sigma; = 0.20 (&amp;Delta;ARI = 1.0000).</a:t>
            </a:r>
            <a:endParaRPr lang="en-US" sz="1100">
              <a:solidFill>
                <a:srgbClr val="FFFFFF"/>
              </a:solidFill>
            </a:endParaRPr>
          </a:p>
          <a:p>
            <a:endParaRPr lang="en-US" sz="1100">
              <a:solidFill>
                <a:srgbClr val="FFFFFF"/>
              </a:solidFill>
            </a:endParaRPr>
          </a:p>
          <a:p>
            <a:r>
              <a:rPr lang="en-US" sz="1100">
                <a:solidFill>
                  <a:srgbClr val="FFFFFF"/>
                </a:solidFill>
              </a:rPr>
              <a:t>&amp;bull; Concentric Circles: MST holds ARI = 1.0000 through &amp;sigma; = 0.10, but collapses to 0.0935 at &amp;sigma; = 0.20 (&amp;Delta;ARI = 0.9065).</a:t>
            </a:r>
            <a:endParaRPr lang="en-US" sz="1100">
              <a:solidFill>
                <a:srgbClr val="FFFFFF"/>
              </a:solidFill>
            </a:endParaRPr>
          </a:p>
          <a:p>
            <a:endParaRPr lang="en-US" sz="1100">
              <a:solidFill>
                <a:srgbClr val="FFFFFF"/>
              </a:solidFill>
            </a:endParaRPr>
          </a:p>
          <a:p>
            <a:r>
              <a:rPr lang="en-US" sz="1100">
                <a:solidFill>
                  <a:srgbClr val="FFFFFF"/>
                </a:solidFill>
              </a:rPr>
              <a:t>&amp;bull; Mechanism: Noise creates Euclidean shortcuts bridging inter-cluster gaps.</a:t>
            </a:r>
            <a:endParaRPr lang="en-US" sz="1100">
              <a:solidFill>
                <a:srgbClr val="FFFFFF"/>
              </a:solidFill>
            </a:endParaRPr>
          </a:p>
        </p:txBody>
      </p:sp>
      <p:pic>
        <p:nvPicPr>
          <p:cNvPr id="4" name="Picture 3" descr="ari_vs_noise"/>
          <p:cNvPicPr>
            <a:picLocks noChangeAspect="1"/>
          </p:cNvPicPr>
          <p:nvPr/>
        </p:nvPicPr>
        <p:blipFill>
          <a:blip r:embed="rId1"/>
          <a:stretch>
            <a:fillRect/>
          </a:stretch>
        </p:blipFill>
        <p:spPr>
          <a:xfrm>
            <a:off x="6223000" y="1397000"/>
            <a:ext cx="5461000" cy="3048000"/>
          </a:xfrm>
          <a:prstGeom prst="rect">
            <a:avLst/>
          </a:prstGeom>
        </p:spPr>
      </p:pic>
      <p:sp>
        <p:nvSpPr>
          <p:cNvPr id="5" name="Text Box 4"/>
          <p:cNvSpPr txBox="1"/>
          <p:nvPr/>
        </p:nvSpPr>
        <p:spPr>
          <a:xfrm>
            <a:off x="6223000" y="4572000"/>
            <a:ext cx="5461000" cy="237490"/>
          </a:xfrm>
          <a:prstGeom prst="rect">
            <a:avLst/>
          </a:prstGeom>
          <a:noFill/>
        </p:spPr>
        <p:txBody>
          <a:bodyPr wrap="square" rtlCol="0" anchor="t">
            <a:spAutoFit/>
          </a:bodyPr>
          <a:p>
            <a:r>
              <a:rPr lang="en-US" sz="950">
                <a:solidFill>
                  <a:srgbClr val="8094A3"/>
                </a:solidFill>
              </a:rPr>
              <a:t>Figure 8.4: Inlier ARI vs. Additive Gaussian Noise (&amp;sigma; in [0.00, 0.20])</a:t>
            </a:r>
            <a:endParaRPr lang="en-US" sz="950">
              <a:solidFill>
                <a:srgbClr val="8094A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EMPIRICAL DISCOVERY</a:t>
            </a:r>
            <a:endParaRPr lang="en-US" sz="1000" b="1">
              <a:solidFill>
                <a:srgbClr val="3B82F6"/>
              </a:solidFill>
            </a:endParaRPr>
          </a:p>
          <a:p>
            <a:r>
              <a:rPr lang="en-US" sz="2200" b="1">
                <a:solidFill>
                  <a:srgbClr val="FFFFFF"/>
                </a:solidFill>
              </a:rPr>
              <a:t>Experiment B: Outlier Robustness &amp; MST Cut Collapse</a:t>
            </a:r>
            <a:endParaRPr lang="en-US" sz="2200" b="1">
              <a:solidFill>
                <a:srgbClr val="FFFFFF"/>
              </a:solidFill>
            </a:endParaRPr>
          </a:p>
        </p:txBody>
      </p:sp>
      <p:sp>
        <p:nvSpPr>
          <p:cNvPr id="3" name="Text Box 2"/>
          <p:cNvSpPr txBox="1"/>
          <p:nvPr/>
        </p:nvSpPr>
        <p:spPr>
          <a:xfrm>
            <a:off x="508000" y="1206500"/>
            <a:ext cx="5461000" cy="1953260"/>
          </a:xfrm>
          <a:prstGeom prst="rect">
            <a:avLst/>
          </a:prstGeom>
          <a:noFill/>
        </p:spPr>
        <p:txBody>
          <a:bodyPr wrap="square" rtlCol="0" anchor="t">
            <a:spAutoFit/>
          </a:bodyPr>
          <a:p>
            <a:r>
              <a:rPr lang="en-US" sz="1100" b="1">
                <a:solidFill>
                  <a:srgbClr val="FFFFFF"/>
                </a:solidFill>
              </a:rPr>
              <a:t>The Central Finding: Catastrophic MST Collapse</a:t>
            </a:r>
            <a:endParaRPr lang="en-US" sz="1100" b="1">
              <a:solidFill>
                <a:srgbClr val="FFFFFF"/>
              </a:solidFill>
            </a:endParaRPr>
          </a:p>
          <a:p>
            <a:endParaRPr lang="en-US" sz="1100">
              <a:solidFill>
                <a:srgbClr val="FFFFFF"/>
              </a:solidFill>
            </a:endParaRPr>
          </a:p>
          <a:p>
            <a:r>
              <a:rPr lang="en-US" sz="1100">
                <a:solidFill>
                  <a:srgbClr val="FFFFFF"/>
                </a:solidFill>
              </a:rPr>
              <a:t>&amp;bull; 5% Outlier Plunge: On Two Moons, adding just 5% uniform outliers (15 points) causes MST ARI to drop instantly from 1.0000 to 0.0000 (&amp;Delta;ARI = 1.0000).</a:t>
            </a:r>
            <a:endParaRPr lang="en-US" sz="1100">
              <a:solidFill>
                <a:srgbClr val="FFFFFF"/>
              </a:solidFill>
            </a:endParaRPr>
          </a:p>
          <a:p>
            <a:endParaRPr lang="en-US" sz="1100">
              <a:solidFill>
                <a:srgbClr val="FFFFFF"/>
              </a:solidFill>
            </a:endParaRPr>
          </a:p>
          <a:p>
            <a:r>
              <a:rPr lang="en-US" sz="1100">
                <a:solidFill>
                  <a:srgbClr val="FFFFFF"/>
                </a:solidFill>
              </a:rPr>
              <a:t>&amp;bull; K-Means Resilience: On Blobs, K-Means maintains ARI = 1.0000 up to 20% outliers, while MST degrades to 0.3799.</a:t>
            </a:r>
            <a:endParaRPr lang="en-US" sz="1100">
              <a:solidFill>
                <a:srgbClr val="FFFFFF"/>
              </a:solidFill>
            </a:endParaRPr>
          </a:p>
          <a:p>
            <a:endParaRPr lang="en-US" sz="1100">
              <a:solidFill>
                <a:srgbClr val="FFFFFF"/>
              </a:solidFill>
            </a:endParaRPr>
          </a:p>
          <a:p>
            <a:r>
              <a:rPr lang="en-US" sz="1100">
                <a:solidFill>
                  <a:srgbClr val="FFFFFF"/>
                </a:solidFill>
              </a:rPr>
              <a:t>&amp;bull; Pendant Edge Cut Misallocation: Outliers form long peripheral edges. The (K - 1) cuts sever isolated outliers into singleton clusters, leaving all 300 inliers trapped in one giant component!</a:t>
            </a:r>
            <a:endParaRPr lang="en-US" sz="1100">
              <a:solidFill>
                <a:srgbClr val="FFFFFF"/>
              </a:solidFill>
            </a:endParaRPr>
          </a:p>
        </p:txBody>
      </p:sp>
      <p:pic>
        <p:nvPicPr>
          <p:cNvPr id="4" name="Picture 3" descr="ari_vs_outliers"/>
          <p:cNvPicPr>
            <a:picLocks noChangeAspect="1"/>
          </p:cNvPicPr>
          <p:nvPr/>
        </p:nvPicPr>
        <p:blipFill>
          <a:blip r:embed="rId1"/>
          <a:stretch>
            <a:fillRect/>
          </a:stretch>
        </p:blipFill>
        <p:spPr>
          <a:xfrm>
            <a:off x="6223000" y="1397000"/>
            <a:ext cx="5461000" cy="3048000"/>
          </a:xfrm>
          <a:prstGeom prst="rect">
            <a:avLst/>
          </a:prstGeom>
        </p:spPr>
      </p:pic>
      <p:sp>
        <p:nvSpPr>
          <p:cNvPr id="5" name="Text Box 4"/>
          <p:cNvSpPr txBox="1"/>
          <p:nvPr/>
        </p:nvSpPr>
        <p:spPr>
          <a:xfrm>
            <a:off x="6223000" y="4572000"/>
            <a:ext cx="5461000" cy="237490"/>
          </a:xfrm>
          <a:prstGeom prst="rect">
            <a:avLst/>
          </a:prstGeom>
          <a:noFill/>
        </p:spPr>
        <p:txBody>
          <a:bodyPr wrap="square" rtlCol="0" anchor="t">
            <a:spAutoFit/>
          </a:bodyPr>
          <a:p>
            <a:r>
              <a:rPr lang="en-US" sz="950">
                <a:solidFill>
                  <a:srgbClr val="8094A3"/>
                </a:solidFill>
              </a:rPr>
              <a:t>Figure 8.5: Inlier ARI vs. Ambient Outlier Contamination (&amp;eta; in [0%, 20%])</a:t>
            </a:r>
            <a:endParaRPr lang="en-US" sz="950">
              <a:solidFill>
                <a:srgbClr val="8094A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COMPUTATIONAL SCALABILITY</a:t>
            </a:r>
            <a:endParaRPr lang="en-US" sz="1000" b="1">
              <a:solidFill>
                <a:srgbClr val="3B82F6"/>
              </a:solidFill>
            </a:endParaRPr>
          </a:p>
          <a:p>
            <a:r>
              <a:rPr lang="en-US" sz="2200" b="1">
                <a:solidFill>
                  <a:srgbClr val="FFFFFF"/>
                </a:solidFill>
              </a:rPr>
              <a:t>Performance Benchmarks &amp; Complexity Scaling</a:t>
            </a:r>
            <a:endParaRPr lang="en-US" sz="2200" b="1">
              <a:solidFill>
                <a:srgbClr val="FFFFFF"/>
              </a:solidFill>
            </a:endParaRPr>
          </a:p>
        </p:txBody>
      </p:sp>
      <p:sp>
        <p:nvSpPr>
          <p:cNvPr id="3" name="Text Box 2"/>
          <p:cNvSpPr txBox="1"/>
          <p:nvPr/>
        </p:nvSpPr>
        <p:spPr>
          <a:xfrm>
            <a:off x="508000" y="1206500"/>
            <a:ext cx="5715000" cy="1868805"/>
          </a:xfrm>
          <a:prstGeom prst="rect">
            <a:avLst/>
          </a:prstGeom>
          <a:noFill/>
        </p:spPr>
        <p:txBody>
          <a:bodyPr wrap="square" rtlCol="0" anchor="t">
            <a:spAutoFit/>
          </a:bodyPr>
          <a:p>
            <a:r>
              <a:rPr lang="en-US" sz="1050" b="1">
                <a:solidFill>
                  <a:srgbClr val="FFFFFF"/>
                </a:solidFill>
              </a:rPr>
              <a:t>Measured Runtime Statistics (Blobs, K = 3)</a:t>
            </a:r>
            <a:endParaRPr lang="en-US" sz="1050" b="1">
              <a:solidFill>
                <a:srgbClr val="FFFFFF"/>
              </a:solidFill>
            </a:endParaRPr>
          </a:p>
          <a:p>
            <a:endParaRPr lang="en-US" sz="1050">
              <a:solidFill>
                <a:srgbClr val="FFFFFF"/>
              </a:solidFill>
            </a:endParaRPr>
          </a:p>
          <a:p>
            <a:r>
              <a:rPr lang="en-US" sz="1050">
                <a:solidFill>
                  <a:srgbClr val="FFFFFF"/>
                </a:solidFill>
              </a:rPr>
              <a:t>&amp;bull; N = 100: KM 0.10 ms | MST 0.14 ms (Ratio: 1.40x mean, 2.00x median)</a:t>
            </a:r>
            <a:endParaRPr lang="en-US" sz="1050">
              <a:solidFill>
                <a:srgbClr val="FFFFFF"/>
              </a:solidFill>
            </a:endParaRPr>
          </a:p>
          <a:p>
            <a:r>
              <a:rPr lang="en-US" sz="1050">
                <a:solidFill>
                  <a:srgbClr val="FFFFFF"/>
                </a:solidFill>
              </a:rPr>
              <a:t>&amp;bull; N = 200: KM 0.16 ms | MST 0.38 ms (Ratio: 2.38x mean, 1.50x median)</a:t>
            </a:r>
            <a:endParaRPr lang="en-US" sz="1050">
              <a:solidFill>
                <a:srgbClr val="FFFFFF"/>
              </a:solidFill>
            </a:endParaRPr>
          </a:p>
          <a:p>
            <a:r>
              <a:rPr lang="en-US" sz="1050">
                <a:solidFill>
                  <a:srgbClr val="FFFFFF"/>
                </a:solidFill>
              </a:rPr>
              <a:t>&amp;bull; N = 400: KM 0.14 ms | MST 0.94 ms (Ratio: 6.71x mean, 10.00x median)</a:t>
            </a:r>
            <a:endParaRPr lang="en-US" sz="1050">
              <a:solidFill>
                <a:srgbClr val="FFFFFF"/>
              </a:solidFill>
            </a:endParaRPr>
          </a:p>
          <a:p>
            <a:r>
              <a:rPr lang="en-US" sz="1050">
                <a:solidFill>
                  <a:srgbClr val="FFFFFF"/>
                </a:solidFill>
              </a:rPr>
              <a:t>&amp;bull; N = 600: KM 0.14 ms | MST 1.70 ms (Ratio: 12.14x mean, 17.00x median)</a:t>
            </a:r>
            <a:endParaRPr lang="en-US" sz="1050">
              <a:solidFill>
                <a:srgbClr val="FFFFFF"/>
              </a:solidFill>
            </a:endParaRPr>
          </a:p>
          <a:p>
            <a:endParaRPr lang="en-US" sz="1050">
              <a:solidFill>
                <a:srgbClr val="FFFFFF"/>
              </a:solidFill>
            </a:endParaRPr>
          </a:p>
          <a:p>
            <a:r>
              <a:rPr lang="en-US" sz="1050">
                <a:solidFill>
                  <a:srgbClr val="FFFFFF"/>
                </a:solidFill>
              </a:rPr>
              <a:t>&amp;bull; Asymptotics: Dense Prim exhibits &amp;Theta;(N^2) quadratic growth. K-Means exhibits linear O(I &amp;bull; K &amp;bull; N) passes.</a:t>
            </a:r>
            <a:endParaRPr lang="en-US" sz="1050">
              <a:solidFill>
                <a:srgbClr val="FFFFFF"/>
              </a:solidFill>
            </a:endParaRPr>
          </a:p>
          <a:p>
            <a:r>
              <a:rPr lang="en-US" sz="1050">
                <a:solidFill>
                  <a:srgbClr val="FFFFFF"/>
                </a:solidFill>
              </a:rPr>
              <a:t>&amp;bull; Disambiguation: Median ratio (17.00x) guards against scheduling jitter; Mean ratio (12.14x) reflects aggregate work.</a:t>
            </a:r>
            <a:endParaRPr lang="en-US" sz="1050">
              <a:solidFill>
                <a:srgbClr val="FFFFFF"/>
              </a:solidFill>
            </a:endParaRPr>
          </a:p>
        </p:txBody>
      </p:sp>
      <p:pic>
        <p:nvPicPr>
          <p:cNvPr id="4" name="Picture 3" descr="runtime_scaling"/>
          <p:cNvPicPr>
            <a:picLocks noChangeAspect="1"/>
          </p:cNvPicPr>
          <p:nvPr/>
        </p:nvPicPr>
        <p:blipFill>
          <a:blip r:embed="rId1"/>
          <a:stretch>
            <a:fillRect/>
          </a:stretch>
        </p:blipFill>
        <p:spPr>
          <a:xfrm>
            <a:off x="6477000" y="1397000"/>
            <a:ext cx="5207000" cy="3048000"/>
          </a:xfrm>
          <a:prstGeom prst="rect">
            <a:avLst/>
          </a:prstGeom>
        </p:spPr>
      </p:pic>
      <p:sp>
        <p:nvSpPr>
          <p:cNvPr id="5" name="Text Box 4"/>
          <p:cNvSpPr txBox="1"/>
          <p:nvPr/>
        </p:nvSpPr>
        <p:spPr>
          <a:xfrm>
            <a:off x="6477000" y="4572000"/>
            <a:ext cx="5207000" cy="237490"/>
          </a:xfrm>
          <a:prstGeom prst="rect">
            <a:avLst/>
          </a:prstGeom>
          <a:noFill/>
        </p:spPr>
        <p:txBody>
          <a:bodyPr wrap="square" rtlCol="0" anchor="t">
            <a:spAutoFit/>
          </a:bodyPr>
          <a:p>
            <a:r>
              <a:rPr lang="en-US" sz="950">
                <a:solidFill>
                  <a:srgbClr val="8094A3"/>
                </a:solidFill>
              </a:rPr>
              <a:t>Figure 8.7: Empirical Wall-Clock Runtime (ms) vs. Sample Size N in [100, 600]</a:t>
            </a:r>
            <a:endParaRPr lang="en-US" sz="950">
              <a:solidFill>
                <a:srgbClr val="8094A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SYNTHESIS &amp; VALUE</a:t>
            </a:r>
            <a:endParaRPr lang="en-US" sz="1000" b="1">
              <a:solidFill>
                <a:srgbClr val="3B82F6"/>
              </a:solidFill>
            </a:endParaRPr>
          </a:p>
          <a:p>
            <a:r>
              <a:rPr lang="en-US" sz="2200" b="1">
                <a:solidFill>
                  <a:srgbClr val="FFFFFF"/>
                </a:solidFill>
              </a:rPr>
              <a:t>Conclusions &amp; Practitioner Decision Framework</a:t>
            </a:r>
            <a:endParaRPr lang="en-US" sz="2200" b="1">
              <a:solidFill>
                <a:srgbClr val="FFFFFF"/>
              </a:solidFill>
            </a:endParaRPr>
          </a:p>
        </p:txBody>
      </p:sp>
      <p:sp>
        <p:nvSpPr>
          <p:cNvPr id="3" name="Text Box 2"/>
          <p:cNvSpPr txBox="1"/>
          <p:nvPr/>
        </p:nvSpPr>
        <p:spPr>
          <a:xfrm>
            <a:off x="508000" y="1270000"/>
            <a:ext cx="5588000" cy="2037715"/>
          </a:xfrm>
          <a:prstGeom prst="rect">
            <a:avLst/>
          </a:prstGeom>
          <a:noFill/>
        </p:spPr>
        <p:txBody>
          <a:bodyPr wrap="square" rtlCol="0" anchor="t">
            <a:spAutoFit/>
          </a:bodyPr>
          <a:p>
            <a:r>
              <a:rPr lang="en-US" sz="1150" b="1">
                <a:solidFill>
                  <a:srgbClr val="FFFFFF"/>
                </a:solidFill>
              </a:rPr>
              <a:t>Practitioner Selection Heuristic</a:t>
            </a:r>
            <a:endParaRPr lang="en-US" sz="1150" b="1">
              <a:solidFill>
                <a:srgbClr val="FFFFFF"/>
              </a:solidFill>
            </a:endParaRPr>
          </a:p>
          <a:p>
            <a:endParaRPr lang="en-US" sz="1150">
              <a:solidFill>
                <a:srgbClr val="FFFFFF"/>
              </a:solidFill>
            </a:endParaRPr>
          </a:p>
          <a:p>
            <a:r>
              <a:rPr lang="en-US" sz="1150">
                <a:solidFill>
                  <a:srgbClr val="FFFFFF"/>
                </a:solidFill>
              </a:rPr>
              <a:t>&amp;bull; Spherical Clusters + Background Noise:</a:t>
            </a:r>
            <a:endParaRPr lang="en-US" sz="1150">
              <a:solidFill>
                <a:srgbClr val="FFFFFF"/>
              </a:solidFill>
            </a:endParaRPr>
          </a:p>
          <a:p>
            <a:r>
              <a:rPr lang="en-US" sz="1150">
                <a:solidFill>
                  <a:srgbClr val="FFFFFF"/>
                </a:solidFill>
              </a:rPr>
              <a:t>  &amp;rarr; SELECT K-MEANS (Robust centroid averaging; fast linear runtime).</a:t>
            </a:r>
            <a:endParaRPr lang="en-US" sz="1150">
              <a:solidFill>
                <a:srgbClr val="FFFFFF"/>
              </a:solidFill>
            </a:endParaRPr>
          </a:p>
          <a:p>
            <a:endParaRPr lang="en-US" sz="1150">
              <a:solidFill>
                <a:srgbClr val="FFFFFF"/>
              </a:solidFill>
            </a:endParaRPr>
          </a:p>
          <a:p>
            <a:r>
              <a:rPr lang="en-US" sz="1150">
                <a:solidFill>
                  <a:srgbClr val="FFFFFF"/>
                </a:solidFill>
              </a:rPr>
              <a:t>&amp;bull; Non-Convex Manifolds + Clean Data:</a:t>
            </a:r>
            <a:endParaRPr lang="en-US" sz="1150">
              <a:solidFill>
                <a:srgbClr val="FFFFFF"/>
              </a:solidFill>
            </a:endParaRPr>
          </a:p>
          <a:p>
            <a:r>
              <a:rPr lang="en-US" sz="1150">
                <a:solidFill>
                  <a:srgbClr val="FFFFFF"/>
                </a:solidFill>
              </a:rPr>
              <a:t>  &amp;rarr; SELECT MST CLUSTERING (Perfect single-linkage topological discovery).</a:t>
            </a:r>
            <a:endParaRPr lang="en-US" sz="1150">
              <a:solidFill>
                <a:srgbClr val="FFFFFF"/>
              </a:solidFill>
            </a:endParaRPr>
          </a:p>
          <a:p>
            <a:endParaRPr lang="en-US" sz="1150">
              <a:solidFill>
                <a:srgbClr val="FFFFFF"/>
              </a:solidFill>
            </a:endParaRPr>
          </a:p>
          <a:p>
            <a:r>
              <a:rPr lang="en-US" sz="1150">
                <a:solidFill>
                  <a:srgbClr val="FFFFFF"/>
                </a:solidFill>
              </a:rPr>
              <a:t>&amp;bull; Non-Convex Manifolds + Heavy Outliers:</a:t>
            </a:r>
            <a:endParaRPr lang="en-US" sz="1150">
              <a:solidFill>
                <a:srgbClr val="FFFFFF"/>
              </a:solidFill>
            </a:endParaRPr>
          </a:p>
          <a:p>
            <a:r>
              <a:rPr lang="en-US" sz="1150">
                <a:solidFill>
                  <a:srgbClr val="FFFFFF"/>
                </a:solidFill>
              </a:rPr>
              <a:t>  &amp;rarr; NEITHER STANDARD ALGORITHM WORKS!</a:t>
            </a:r>
            <a:endParaRPr lang="en-US" sz="1150">
              <a:solidFill>
                <a:srgbClr val="FFFFFF"/>
              </a:solidFill>
            </a:endParaRPr>
          </a:p>
          <a:p>
            <a:r>
              <a:rPr lang="en-US" sz="1150">
                <a:solidFill>
                  <a:srgbClr val="FFFFFF"/>
                </a:solidFill>
              </a:rPr>
              <a:t>  Deploy density-based methods (DBSCAN) or outlier-trimmed MST variants.</a:t>
            </a:r>
            <a:endParaRPr lang="en-US" sz="1150">
              <a:solidFill>
                <a:srgbClr val="FFFFFF"/>
              </a:solidFill>
            </a:endParaRPr>
          </a:p>
        </p:txBody>
      </p:sp>
      <p:sp>
        <p:nvSpPr>
          <p:cNvPr id="4" name="Text Box 3"/>
          <p:cNvSpPr txBox="1"/>
          <p:nvPr/>
        </p:nvSpPr>
        <p:spPr>
          <a:xfrm>
            <a:off x="6350000" y="1270000"/>
            <a:ext cx="5334000" cy="2037715"/>
          </a:xfrm>
          <a:prstGeom prst="rect">
            <a:avLst/>
          </a:prstGeom>
          <a:noFill/>
        </p:spPr>
        <p:txBody>
          <a:bodyPr wrap="square" rtlCol="0" anchor="t">
            <a:spAutoFit/>
          </a:bodyPr>
          <a:p>
            <a:r>
              <a:rPr lang="en-US" sz="1150" b="1">
                <a:solidFill>
                  <a:srgbClr val="FFFFFF"/>
                </a:solidFill>
              </a:rPr>
              <a:t>Threats to Validity &amp; Future Scope</a:t>
            </a:r>
            <a:endParaRPr lang="en-US" sz="1150" b="1">
              <a:solidFill>
                <a:srgbClr val="FFFFFF"/>
              </a:solidFill>
            </a:endParaRPr>
          </a:p>
          <a:p>
            <a:endParaRPr lang="en-US" sz="1150">
              <a:solidFill>
                <a:srgbClr val="FFFFFF"/>
              </a:solidFill>
            </a:endParaRPr>
          </a:p>
          <a:p>
            <a:r>
              <a:rPr lang="en-US" sz="1150">
                <a:solidFill>
                  <a:srgbClr val="FFFFFF"/>
                </a:solidFill>
              </a:rPr>
              <a:t>&amp;bull; Experimental Limitations:</a:t>
            </a:r>
            <a:endParaRPr lang="en-US" sz="1150">
              <a:solidFill>
                <a:srgbClr val="FFFFFF"/>
              </a:solidFill>
            </a:endParaRPr>
          </a:p>
          <a:p>
            <a:r>
              <a:rPr lang="en-US" sz="1150">
                <a:solidFill>
                  <a:srgbClr val="FFFFFF"/>
                </a:solidFill>
              </a:rPr>
              <a:t>  - Small seed sample (M = 3) reflects exploratory variance.</a:t>
            </a:r>
            <a:endParaRPr lang="en-US" sz="1150">
              <a:solidFill>
                <a:srgbClr val="FFFFFF"/>
              </a:solidFill>
            </a:endParaRPr>
          </a:p>
          <a:p>
            <a:r>
              <a:rPr lang="en-US" sz="1150">
                <a:solidFill>
                  <a:srgbClr val="FFFFFF"/>
                </a:solidFill>
              </a:rPr>
              <a:t>  - 2D synthetic manifolds avoid high-dimensional distance concentration.</a:t>
            </a:r>
            <a:endParaRPr lang="en-US" sz="1150">
              <a:solidFill>
                <a:srgbClr val="FFFFFF"/>
              </a:solidFill>
            </a:endParaRPr>
          </a:p>
          <a:p>
            <a:r>
              <a:rPr lang="en-US" sz="1150">
                <a:solidFill>
                  <a:srgbClr val="FFFFFF"/>
                </a:solidFill>
              </a:rPr>
              <a:t>  - Browser monotonic timer coarsening (5 - 100 &amp;mu;s).</a:t>
            </a:r>
            <a:endParaRPr lang="en-US" sz="1150">
              <a:solidFill>
                <a:srgbClr val="FFFFFF"/>
              </a:solidFill>
            </a:endParaRPr>
          </a:p>
          <a:p>
            <a:endParaRPr lang="en-US" sz="1150">
              <a:solidFill>
                <a:srgbClr val="FFFFFF"/>
              </a:solidFill>
            </a:endParaRPr>
          </a:p>
          <a:p>
            <a:r>
              <a:rPr lang="en-US" sz="1150">
                <a:solidFill>
                  <a:srgbClr val="FFFFFF"/>
                </a:solidFill>
              </a:rPr>
              <a:t>&amp;bull; Future Research Extensions:</a:t>
            </a:r>
            <a:endParaRPr lang="en-US" sz="1150">
              <a:solidFill>
                <a:srgbClr val="FFFFFF"/>
              </a:solidFill>
            </a:endParaRPr>
          </a:p>
          <a:p>
            <a:r>
              <a:rPr lang="en-US" sz="1150">
                <a:solidFill>
                  <a:srgbClr val="FFFFFF"/>
                </a:solidFill>
              </a:rPr>
              <a:t>  - Outlier-trimmed MST (density filtering prior to tree cuts).</a:t>
            </a:r>
            <a:endParaRPr lang="en-US" sz="1150">
              <a:solidFill>
                <a:srgbClr val="FFFFFF"/>
              </a:solidFill>
            </a:endParaRPr>
          </a:p>
          <a:p>
            <a:r>
              <a:rPr lang="en-US" sz="1150">
                <a:solidFill>
                  <a:srgbClr val="FFFFFF"/>
                </a:solidFill>
              </a:rPr>
              <a:t>  - Sparse Delaunay triangulations reducing MST to O(N log N).</a:t>
            </a:r>
            <a:endParaRPr lang="en-US" sz="1150">
              <a:solidFill>
                <a:srgbClr val="FFFFFF"/>
              </a:solidFill>
            </a:endParaRPr>
          </a:p>
          <a:p>
            <a:r>
              <a:rPr lang="en-US" sz="1150">
                <a:solidFill>
                  <a:srgbClr val="FFFFFF"/>
                </a:solidFill>
              </a:rPr>
              <a:t>  - Higher-dimensional benchmark sweeps (D in [2, 100]).</a:t>
            </a:r>
            <a:endParaRPr lang="en-US" sz="115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Text Box 1"/>
          <p:cNvSpPr txBox="1"/>
          <p:nvPr/>
        </p:nvSpPr>
        <p:spPr>
          <a:xfrm>
            <a:off x="508000" y="254000"/>
            <a:ext cx="11176000" cy="492125"/>
          </a:xfrm>
          <a:prstGeom prst="rect">
            <a:avLst/>
          </a:prstGeom>
          <a:noFill/>
        </p:spPr>
        <p:txBody>
          <a:bodyPr wrap="square" lIns="0" tIns="0" rIns="0" bIns="0" rtlCol="0" anchor="t">
            <a:spAutoFit/>
          </a:bodyPr>
          <a:p>
            <a:r>
              <a:rPr lang="en-US" sz="1000" b="1">
                <a:solidFill>
                  <a:srgbClr val="3B82F6"/>
                </a:solidFill>
              </a:rPr>
              <a:t>ACADEMIC DEFENSE</a:t>
            </a:r>
            <a:endParaRPr lang="en-US" sz="1000" b="1">
              <a:solidFill>
                <a:srgbClr val="3B82F6"/>
              </a:solidFill>
            </a:endParaRPr>
          </a:p>
          <a:p>
            <a:r>
              <a:rPr lang="en-US" sz="2200" b="1">
                <a:solidFill>
                  <a:srgbClr val="FFFFFF"/>
                </a:solidFill>
              </a:rPr>
              <a:t>References &amp; Viva Defense Q&amp;A</a:t>
            </a:r>
            <a:endParaRPr lang="en-US" sz="2200" b="1">
              <a:solidFill>
                <a:srgbClr val="FFFFFF"/>
              </a:solidFill>
            </a:endParaRPr>
          </a:p>
        </p:txBody>
      </p:sp>
      <p:sp>
        <p:nvSpPr>
          <p:cNvPr id="3" name="Text Box 2"/>
          <p:cNvSpPr txBox="1"/>
          <p:nvPr/>
        </p:nvSpPr>
        <p:spPr>
          <a:xfrm>
            <a:off x="508000" y="1270000"/>
            <a:ext cx="5588000" cy="1383665"/>
          </a:xfrm>
          <a:prstGeom prst="rect">
            <a:avLst/>
          </a:prstGeom>
          <a:noFill/>
        </p:spPr>
        <p:txBody>
          <a:bodyPr wrap="square" rtlCol="0" anchor="t">
            <a:spAutoFit/>
          </a:bodyPr>
          <a:p>
            <a:r>
              <a:rPr lang="en-US" sz="1050" b="1">
                <a:solidFill>
                  <a:srgbClr val="FFFFFF"/>
                </a:solidFill>
              </a:rPr>
              <a:t>Essential Academic References</a:t>
            </a:r>
            <a:endParaRPr lang="en-US" sz="1050" b="1">
              <a:solidFill>
                <a:srgbClr val="FFFFFF"/>
              </a:solidFill>
            </a:endParaRPr>
          </a:p>
          <a:p>
            <a:endParaRPr lang="en-US" sz="1050">
              <a:solidFill>
                <a:srgbClr val="FFFFFF"/>
              </a:solidFill>
            </a:endParaRPr>
          </a:p>
          <a:p>
            <a:r>
              <a:rPr lang="en-US" sz="1050">
                <a:solidFill>
                  <a:srgbClr val="FFFFFF"/>
                </a:solidFill>
              </a:rPr>
              <a:t>&amp;bull; MacQueen (1967) / Lloyd (1982): Foundations of K-Means optimization &amp; vector quantization.</a:t>
            </a:r>
            <a:endParaRPr lang="en-US" sz="1050">
              <a:solidFill>
                <a:srgbClr val="FFFFFF"/>
              </a:solidFill>
            </a:endParaRPr>
          </a:p>
          <a:p>
            <a:r>
              <a:rPr lang="en-US" sz="1050">
                <a:solidFill>
                  <a:srgbClr val="FFFFFF"/>
                </a:solidFill>
              </a:rPr>
              <a:t>&amp;bull; Arthur &amp; Vassilvitskii (2007): k-means++ careful seeding approximation bounds.</a:t>
            </a:r>
            <a:endParaRPr lang="en-US" sz="1050">
              <a:solidFill>
                <a:srgbClr val="FFFFFF"/>
              </a:solidFill>
            </a:endParaRPr>
          </a:p>
          <a:p>
            <a:r>
              <a:rPr lang="en-US" sz="1050">
                <a:solidFill>
                  <a:srgbClr val="FFFFFF"/>
                </a:solidFill>
              </a:rPr>
              <a:t>&amp;bull; Prim (1957) / Zahn (1971): Minimum Spanning Trees &amp; gestalt graph clustering.</a:t>
            </a:r>
            <a:endParaRPr lang="en-US" sz="1050">
              <a:solidFill>
                <a:srgbClr val="FFFFFF"/>
              </a:solidFill>
            </a:endParaRPr>
          </a:p>
          <a:p>
            <a:r>
              <a:rPr lang="en-US" sz="1050">
                <a:solidFill>
                  <a:srgbClr val="FFFFFF"/>
                </a:solidFill>
              </a:rPr>
              <a:t>&amp;bull; Hubert &amp; Arabie (1985): Comparing partitions &amp; Adjusted Rand Index.</a:t>
            </a:r>
            <a:endParaRPr lang="en-US" sz="1050">
              <a:solidFill>
                <a:srgbClr val="FFFFFF"/>
              </a:solidFill>
            </a:endParaRPr>
          </a:p>
          <a:p>
            <a:r>
              <a:rPr lang="en-US" sz="1050">
                <a:solidFill>
                  <a:srgbClr val="FFFFFF"/>
                </a:solidFill>
              </a:rPr>
              <a:t>&amp;bull; Jain (2010): Data clustering: 50 years beyond K-means.</a:t>
            </a:r>
            <a:endParaRPr lang="en-US" sz="1050">
              <a:solidFill>
                <a:srgbClr val="FFFFFF"/>
              </a:solidFill>
            </a:endParaRPr>
          </a:p>
        </p:txBody>
      </p:sp>
      <p:sp>
        <p:nvSpPr>
          <p:cNvPr id="4" name="Text Box 3"/>
          <p:cNvSpPr txBox="1"/>
          <p:nvPr/>
        </p:nvSpPr>
        <p:spPr>
          <a:xfrm>
            <a:off x="6350000" y="1524000"/>
            <a:ext cx="5334000" cy="1614805"/>
          </a:xfrm>
          <a:prstGeom prst="rect">
            <a:avLst/>
          </a:prstGeom>
          <a:noFill/>
        </p:spPr>
        <p:txBody>
          <a:bodyPr wrap="square" rtlCol="0" anchor="t">
            <a:spAutoFit/>
          </a:bodyPr>
          <a:p>
            <a:r>
              <a:rPr lang="en-US" sz="1100" b="1">
                <a:solidFill>
                  <a:srgbClr val="FDC593"/>
                </a:solidFill>
              </a:rPr>
              <a:t>Thank You</a:t>
            </a:r>
            <a:endParaRPr lang="en-US" sz="1100" b="1">
              <a:solidFill>
                <a:srgbClr val="FDC593"/>
              </a:solidFill>
            </a:endParaRPr>
          </a:p>
          <a:p>
            <a:endParaRPr lang="en-US" sz="1100">
              <a:solidFill>
                <a:srgbClr val="FDC593"/>
              </a:solidFill>
            </a:endParaRPr>
          </a:p>
          <a:p>
            <a:r>
              <a:rPr lang="en-US" sz="1100">
                <a:solidFill>
                  <a:srgbClr val="FDC593"/>
                </a:solidFill>
              </a:rPr>
              <a:t>We welcome questions, critiques, and discussion from the examination committee.</a:t>
            </a:r>
            <a:endParaRPr lang="en-US" sz="1100">
              <a:solidFill>
                <a:srgbClr val="FDC593"/>
              </a:solidFill>
            </a:endParaRPr>
          </a:p>
          <a:p>
            <a:endParaRPr lang="en-US" sz="1100">
              <a:solidFill>
                <a:srgbClr val="FDC593"/>
              </a:solidFill>
            </a:endParaRPr>
          </a:p>
          <a:p>
            <a:r>
              <a:rPr lang="en-US" sz="1100">
                <a:solidFill>
                  <a:srgbClr val="FDC593"/>
                </a:solidFill>
              </a:rPr>
              <a:t>Himanshu Gupta (Alloc. No. 19) &amp;bull; Parth Yadav</a:t>
            </a:r>
            <a:endParaRPr lang="en-US" sz="1100">
              <a:solidFill>
                <a:srgbClr val="FDC593"/>
              </a:solidFill>
            </a:endParaRPr>
          </a:p>
          <a:p>
            <a:r>
              <a:rPr lang="en-US" sz="1100">
                <a:solidFill>
                  <a:srgbClr val="FDC593"/>
                </a:solidFill>
              </a:rPr>
              <a:t>Department of Computer Science and Engineering</a:t>
            </a:r>
            <a:endParaRPr lang="en-US" sz="1100">
              <a:solidFill>
                <a:srgbClr val="FDC593"/>
              </a:solidFill>
            </a:endParaRPr>
          </a:p>
          <a:p>
            <a:r>
              <a:rPr lang="en-US" sz="1100">
                <a:solidFill>
                  <a:srgbClr val="FDC593"/>
                </a:solidFill>
              </a:rPr>
              <a:t>MRIIRS, Faridabad, India</a:t>
            </a:r>
            <a:endParaRPr lang="en-US" sz="1100">
              <a:solidFill>
                <a:srgbClr val="FDC593"/>
              </a:solidFill>
            </a:endParaRPr>
          </a:p>
          <a:p>
            <a:endParaRPr lang="en-US" sz="1100">
              <a:solidFill>
                <a:srgbClr val="FDC593"/>
              </a:solidFill>
            </a:endParaRPr>
          </a:p>
          <a:p>
            <a:r>
              <a:rPr lang="en-US" sz="1100">
                <a:solidFill>
                  <a:srgbClr val="FDC593"/>
                </a:solidFill>
              </a:rPr>
              <a:t>Repository: github.com/Himanshu102931/MST-KMeans-Robustness-Analysis</a:t>
            </a:r>
            <a:endParaRPr lang="en-US" sz="1100">
              <a:solidFill>
                <a:srgbClr val="FDC593"/>
              </a:solidFill>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11310</Words>
  <Application>WPS Presentation</Application>
  <PresentationFormat>Widescreen</PresentationFormat>
  <Paragraphs>253</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Wingdings</vt:lpstr>
      <vt:lpstr>Arial Unicode MS</vt:lpstr>
      <vt:lpstr>Microsoft YaHei</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himan</dc:creator>
  <cp:lastModifiedBy>HIMANSHU GUPTA</cp:lastModifiedBy>
  <cp:revision>1</cp:revision>
  <dcterms:created xsi:type="dcterms:W3CDTF">2026-10-12T15:13:53Z</dcterms:created>
  <dcterms:modified xsi:type="dcterms:W3CDTF">2026-10-12T15:13:53Z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09842B1242824A618E0CCAC6ED13AEE4_11</vt:lpwstr>
  </property>
</Properties>
</file>